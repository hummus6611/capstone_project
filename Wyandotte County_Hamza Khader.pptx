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handoutMasterIdLst>
    <p:handoutMasterId r:id="rId29"/>
  </p:handoutMasterIdLst>
  <p:sldIdLst>
    <p:sldId id="257" r:id="rId2"/>
    <p:sldId id="256" r:id="rId3"/>
    <p:sldId id="261" r:id="rId4"/>
    <p:sldId id="289" r:id="rId5"/>
    <p:sldId id="290" r:id="rId6"/>
    <p:sldId id="272" r:id="rId7"/>
    <p:sldId id="276" r:id="rId8"/>
    <p:sldId id="274" r:id="rId9"/>
    <p:sldId id="263" r:id="rId10"/>
    <p:sldId id="264" r:id="rId11"/>
    <p:sldId id="277" r:id="rId12"/>
    <p:sldId id="278" r:id="rId13"/>
    <p:sldId id="281" r:id="rId14"/>
    <p:sldId id="279" r:id="rId15"/>
    <p:sldId id="280" r:id="rId16"/>
    <p:sldId id="282" r:id="rId17"/>
    <p:sldId id="283" r:id="rId18"/>
    <p:sldId id="284" r:id="rId19"/>
    <p:sldId id="285" r:id="rId20"/>
    <p:sldId id="287" r:id="rId21"/>
    <p:sldId id="286" r:id="rId22"/>
    <p:sldId id="288" r:id="rId23"/>
    <p:sldId id="269" r:id="rId24"/>
    <p:sldId id="270" r:id="rId25"/>
    <p:sldId id="271" r:id="rId26"/>
    <p:sldId id="26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49"/>
    <p:restoredTop sz="94650"/>
  </p:normalViewPr>
  <p:slideViewPr>
    <p:cSldViewPr snapToGrid="0" snapToObjects="1">
      <p:cViewPr>
        <p:scale>
          <a:sx n="69" d="100"/>
          <a:sy n="69" d="100"/>
        </p:scale>
        <p:origin x="380" y="60"/>
      </p:cViewPr>
      <p:guideLst/>
    </p:cSldViewPr>
  </p:slideViewPr>
  <p:notesTextViewPr>
    <p:cViewPr>
      <p:scale>
        <a:sx n="1" d="1"/>
        <a:sy n="1" d="1"/>
      </p:scale>
      <p:origin x="0" y="0"/>
    </p:cViewPr>
  </p:notesTextViewPr>
  <p:notesViewPr>
    <p:cSldViewPr snapToGrid="0" snapToObjects="1">
      <p:cViewPr varScale="1">
        <p:scale>
          <a:sx n="79" d="100"/>
          <a:sy n="79" d="100"/>
        </p:scale>
        <p:origin x="3528"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E549EA-A729-3D45-8B4D-22B7EBF5C6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97E04D-ECCF-9144-940C-119F342EF9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43F512-30E2-3F46-8010-5659AF98CC34}" type="datetimeFigureOut">
              <a:rPr lang="en-US" smtClean="0"/>
              <a:t>12/3/2024</a:t>
            </a:fld>
            <a:endParaRPr lang="en-US"/>
          </a:p>
        </p:txBody>
      </p:sp>
      <p:sp>
        <p:nvSpPr>
          <p:cNvPr id="4" name="Footer Placeholder 3">
            <a:extLst>
              <a:ext uri="{FF2B5EF4-FFF2-40B4-BE49-F238E27FC236}">
                <a16:creationId xmlns:a16="http://schemas.microsoft.com/office/drawing/2014/main" id="{AA0344F1-5767-0541-B208-C6A9788E8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76DBA68-A779-A547-8605-413DDCAEB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7A2CB1-9001-FD49-B675-3F6AB6B0DB25}" type="slidenum">
              <a:rPr lang="en-US" smtClean="0"/>
              <a:t>‹#›</a:t>
            </a:fld>
            <a:endParaRPr lang="en-US"/>
          </a:p>
        </p:txBody>
      </p:sp>
    </p:spTree>
    <p:extLst>
      <p:ext uri="{BB962C8B-B14F-4D97-AF65-F5344CB8AC3E}">
        <p14:creationId xmlns:p14="http://schemas.microsoft.com/office/powerpoint/2010/main" val="3221082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E9FAA-CE99-9243-980C-708A50330DCB}"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6AF33-FE8D-0F43-AD85-A52C3F99EDA1}" type="slidenum">
              <a:rPr lang="en-US" smtClean="0"/>
              <a:t>‹#›</a:t>
            </a:fld>
            <a:endParaRPr lang="en-US"/>
          </a:p>
        </p:txBody>
      </p:sp>
    </p:spTree>
    <p:extLst>
      <p:ext uri="{BB962C8B-B14F-4D97-AF65-F5344CB8AC3E}">
        <p14:creationId xmlns:p14="http://schemas.microsoft.com/office/powerpoint/2010/main" val="37761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2AFA-44D0-F744-8BDD-C2802771C1EF}"/>
              </a:ext>
            </a:extLst>
          </p:cNvPr>
          <p:cNvSpPr>
            <a:spLocks noGrp="1"/>
          </p:cNvSpPr>
          <p:nvPr>
            <p:ph type="ctrTitle" hasCustomPrompt="1"/>
          </p:nvPr>
        </p:nvSpPr>
        <p:spPr>
          <a:xfrm>
            <a:off x="1524000" y="2503487"/>
            <a:ext cx="9144000" cy="1006475"/>
          </a:xfrm>
        </p:spPr>
        <p:txBody>
          <a:bodyPr anchor="b"/>
          <a:lstStyle>
            <a:lvl1pPr algn="ctr">
              <a:defRPr sz="6000"/>
            </a:lvl1pPr>
          </a:lstStyle>
          <a:p>
            <a:r>
              <a:rPr lang="en-US" dirty="0"/>
              <a:t>Title of Presentation</a:t>
            </a:r>
          </a:p>
        </p:txBody>
      </p:sp>
      <p:sp>
        <p:nvSpPr>
          <p:cNvPr id="3" name="Subtitle 2">
            <a:extLst>
              <a:ext uri="{FF2B5EF4-FFF2-40B4-BE49-F238E27FC236}">
                <a16:creationId xmlns:a16="http://schemas.microsoft.com/office/drawing/2014/main" id="{B1ABA64A-8634-5140-B60F-09086C669D5C}"/>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Presenter’s Name</a:t>
            </a:r>
          </a:p>
          <a:p>
            <a:r>
              <a:rPr lang="en-US" dirty="0"/>
              <a:t>Title, Department</a:t>
            </a:r>
          </a:p>
          <a:p>
            <a:r>
              <a:rPr lang="en-US" dirty="0"/>
              <a:t>Date</a:t>
            </a:r>
          </a:p>
        </p:txBody>
      </p:sp>
      <p:sp>
        <p:nvSpPr>
          <p:cNvPr id="4" name="Date Placeholder 3">
            <a:extLst>
              <a:ext uri="{FF2B5EF4-FFF2-40B4-BE49-F238E27FC236}">
                <a16:creationId xmlns:a16="http://schemas.microsoft.com/office/drawing/2014/main" id="{A0E3B9D1-8415-1B44-B6D1-308A9D4A6CD9}"/>
              </a:ext>
            </a:extLst>
          </p:cNvPr>
          <p:cNvSpPr>
            <a:spLocks noGrp="1"/>
          </p:cNvSpPr>
          <p:nvPr>
            <p:ph type="dt" sz="half" idx="10"/>
          </p:nvPr>
        </p:nvSpPr>
        <p:spPr/>
        <p:txBody>
          <a:bodyPr/>
          <a:lstStyle/>
          <a:p>
            <a:fld id="{8254A545-610A-3246-BBF7-82AC132EB6A8}" type="datetimeFigureOut">
              <a:rPr lang="en-US" smtClean="0"/>
              <a:t>12/3/2024</a:t>
            </a:fld>
            <a:endParaRPr lang="en-US"/>
          </a:p>
        </p:txBody>
      </p:sp>
      <p:sp>
        <p:nvSpPr>
          <p:cNvPr id="5" name="Footer Placeholder 4">
            <a:extLst>
              <a:ext uri="{FF2B5EF4-FFF2-40B4-BE49-F238E27FC236}">
                <a16:creationId xmlns:a16="http://schemas.microsoft.com/office/drawing/2014/main" id="{1DF19443-4DC4-404B-8FFB-AAEF9ABDE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1D4938-7FDF-B04D-A213-F8160A6F1A95}"/>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9" name="Picture 8" descr="The logo for Wichita State University." title="Wichita State University Logo">
            <a:extLst>
              <a:ext uri="{FF2B5EF4-FFF2-40B4-BE49-F238E27FC236}">
                <a16:creationId xmlns:a16="http://schemas.microsoft.com/office/drawing/2014/main" id="{1ADE4355-A3B2-6449-9D1C-9F7D8F17891B}"/>
              </a:ext>
            </a:extLst>
          </p:cNvPr>
          <p:cNvPicPr>
            <a:picLocks noChangeAspect="1"/>
          </p:cNvPicPr>
          <p:nvPr userDrawn="1"/>
        </p:nvPicPr>
        <p:blipFill>
          <a:blip r:embed="rId3"/>
          <a:stretch>
            <a:fillRect/>
          </a:stretch>
        </p:blipFill>
        <p:spPr>
          <a:xfrm>
            <a:off x="4001073" y="1192211"/>
            <a:ext cx="4189854" cy="965202"/>
          </a:xfrm>
          <a:prstGeom prst="rect">
            <a:avLst/>
          </a:prstGeom>
        </p:spPr>
      </p:pic>
    </p:spTree>
    <p:extLst>
      <p:ext uri="{BB962C8B-B14F-4D97-AF65-F5344CB8AC3E}">
        <p14:creationId xmlns:p14="http://schemas.microsoft.com/office/powerpoint/2010/main" val="1939129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AE9C-BCE1-134F-9AA5-36AC0166BAB7}"/>
              </a:ext>
            </a:extLst>
          </p:cNvPr>
          <p:cNvSpPr>
            <a:spLocks noGrp="1"/>
          </p:cNvSpPr>
          <p:nvPr>
            <p:ph type="title" hasCustomPrompt="1"/>
          </p:nvPr>
        </p:nvSpPr>
        <p:spPr>
          <a:xfrm>
            <a:off x="2857500" y="300039"/>
            <a:ext cx="8503920" cy="957262"/>
          </a:xfrm>
        </p:spPr>
        <p:txBody>
          <a:bodyPr/>
          <a:lstStyle>
            <a:lvl1pPr>
              <a:defRPr>
                <a:solidFill>
                  <a:schemeClr val="bg1"/>
                </a:solidFill>
              </a:defRPr>
            </a:lvl1pPr>
          </a:lstStyle>
          <a:p>
            <a:r>
              <a:rPr lang="en-US" dirty="0"/>
              <a:t>1-Column Slide</a:t>
            </a:r>
          </a:p>
        </p:txBody>
      </p:sp>
      <p:sp>
        <p:nvSpPr>
          <p:cNvPr id="3" name="Content Placeholder 2">
            <a:extLst>
              <a:ext uri="{FF2B5EF4-FFF2-40B4-BE49-F238E27FC236}">
                <a16:creationId xmlns:a16="http://schemas.microsoft.com/office/drawing/2014/main" id="{5052DADA-DA3F-374B-8A2B-B0B5F1A463F1}"/>
              </a:ext>
            </a:extLst>
          </p:cNvPr>
          <p:cNvSpPr>
            <a:spLocks noGrp="1"/>
          </p:cNvSpPr>
          <p:nvPr>
            <p:ph idx="1" hasCustomPrompt="1"/>
          </p:nvPr>
        </p:nvSpPr>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B57CC7-E80B-4E43-9A8C-58FE70FDAF35}"/>
              </a:ext>
            </a:extLst>
          </p:cNvPr>
          <p:cNvSpPr>
            <a:spLocks noGrp="1"/>
          </p:cNvSpPr>
          <p:nvPr>
            <p:ph type="dt" sz="half" idx="10"/>
          </p:nvPr>
        </p:nvSpPr>
        <p:spPr/>
        <p:txBody>
          <a:bodyPr/>
          <a:lstStyle/>
          <a:p>
            <a:fld id="{8254A545-610A-3246-BBF7-82AC132EB6A8}" type="datetimeFigureOut">
              <a:rPr lang="en-US" smtClean="0"/>
              <a:t>12/3/2024</a:t>
            </a:fld>
            <a:endParaRPr lang="en-US"/>
          </a:p>
        </p:txBody>
      </p:sp>
      <p:sp>
        <p:nvSpPr>
          <p:cNvPr id="5" name="Footer Placeholder 4">
            <a:extLst>
              <a:ext uri="{FF2B5EF4-FFF2-40B4-BE49-F238E27FC236}">
                <a16:creationId xmlns:a16="http://schemas.microsoft.com/office/drawing/2014/main" id="{06D4C005-7FB8-3D4C-96BE-CD8E4D136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D0C98-1C77-A04F-96D7-2FB871DF47C4}"/>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7" name="Picture 6">
            <a:extLst>
              <a:ext uri="{FF2B5EF4-FFF2-40B4-BE49-F238E27FC236}">
                <a16:creationId xmlns:a16="http://schemas.microsoft.com/office/drawing/2014/main" id="{B0901733-A319-1049-88B3-3DD8B2790C37}"/>
              </a:ext>
            </a:extLst>
          </p:cNvPr>
          <p:cNvPicPr>
            <a:picLocks noChangeAspect="1"/>
          </p:cNvPicPr>
          <p:nvPr userDrawn="1"/>
        </p:nvPicPr>
        <p:blipFill>
          <a:blip r:embed="rId3"/>
          <a:stretch>
            <a:fillRect/>
          </a:stretch>
        </p:blipFill>
        <p:spPr>
          <a:xfrm>
            <a:off x="382270" y="132080"/>
            <a:ext cx="1113411" cy="988060"/>
          </a:xfrm>
          <a:prstGeom prst="rect">
            <a:avLst/>
          </a:prstGeom>
        </p:spPr>
      </p:pic>
    </p:spTree>
    <p:extLst>
      <p:ext uri="{BB962C8B-B14F-4D97-AF65-F5344CB8AC3E}">
        <p14:creationId xmlns:p14="http://schemas.microsoft.com/office/powerpoint/2010/main" val="249745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DA10-D4F1-1246-AC76-4E99217B7F15}"/>
              </a:ext>
            </a:extLst>
          </p:cNvPr>
          <p:cNvSpPr>
            <a:spLocks noGrp="1"/>
          </p:cNvSpPr>
          <p:nvPr>
            <p:ph type="title" hasCustomPrompt="1"/>
          </p:nvPr>
        </p:nvSpPr>
        <p:spPr>
          <a:xfrm>
            <a:off x="2857500" y="301752"/>
            <a:ext cx="8503920" cy="960120"/>
          </a:xfrm>
        </p:spPr>
        <p:txBody>
          <a:bodyPr/>
          <a:lstStyle>
            <a:lvl1pPr>
              <a:defRPr>
                <a:solidFill>
                  <a:schemeClr val="bg1"/>
                </a:solidFill>
              </a:defRPr>
            </a:lvl1pPr>
          </a:lstStyle>
          <a:p>
            <a:r>
              <a:rPr lang="en-US" dirty="0"/>
              <a:t>2-Column Slide</a:t>
            </a:r>
          </a:p>
        </p:txBody>
      </p:sp>
      <p:sp>
        <p:nvSpPr>
          <p:cNvPr id="3" name="Content Placeholder 2">
            <a:extLst>
              <a:ext uri="{FF2B5EF4-FFF2-40B4-BE49-F238E27FC236}">
                <a16:creationId xmlns:a16="http://schemas.microsoft.com/office/drawing/2014/main" id="{7AB7A247-7DFC-E446-938A-2CA021AE3EDD}"/>
              </a:ext>
            </a:extLst>
          </p:cNvPr>
          <p:cNvSpPr>
            <a:spLocks noGrp="1"/>
          </p:cNvSpPr>
          <p:nvPr>
            <p:ph sz="half" idx="1" hasCustomPrompt="1"/>
          </p:nvPr>
        </p:nvSpPr>
        <p:spPr>
          <a:xfrm>
            <a:off x="838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4B5206B-3FC0-CE41-90B0-155B2B1C6F2F}"/>
              </a:ext>
            </a:extLst>
          </p:cNvPr>
          <p:cNvSpPr>
            <a:spLocks noGrp="1"/>
          </p:cNvSpPr>
          <p:nvPr>
            <p:ph sz="half" idx="2" hasCustomPrompt="1"/>
          </p:nvPr>
        </p:nvSpPr>
        <p:spPr>
          <a:xfrm>
            <a:off x="6172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DF86D33-CD83-4040-BB1F-306A4D9B8E6E}"/>
              </a:ext>
            </a:extLst>
          </p:cNvPr>
          <p:cNvSpPr>
            <a:spLocks noGrp="1"/>
          </p:cNvSpPr>
          <p:nvPr>
            <p:ph type="dt" sz="half" idx="10"/>
          </p:nvPr>
        </p:nvSpPr>
        <p:spPr/>
        <p:txBody>
          <a:bodyPr/>
          <a:lstStyle/>
          <a:p>
            <a:fld id="{8254A545-610A-3246-BBF7-82AC132EB6A8}" type="datetimeFigureOut">
              <a:rPr lang="en-US" smtClean="0"/>
              <a:t>12/3/2024</a:t>
            </a:fld>
            <a:endParaRPr lang="en-US"/>
          </a:p>
        </p:txBody>
      </p:sp>
      <p:sp>
        <p:nvSpPr>
          <p:cNvPr id="6" name="Footer Placeholder 5">
            <a:extLst>
              <a:ext uri="{FF2B5EF4-FFF2-40B4-BE49-F238E27FC236}">
                <a16:creationId xmlns:a16="http://schemas.microsoft.com/office/drawing/2014/main" id="{E4CB5D88-544F-964C-84FC-051762122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67E06-089A-6846-8B48-B3A0F23DC958}"/>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9" name="Picture 8">
            <a:extLst>
              <a:ext uri="{FF2B5EF4-FFF2-40B4-BE49-F238E27FC236}">
                <a16:creationId xmlns:a16="http://schemas.microsoft.com/office/drawing/2014/main" id="{E6765500-5B28-AC4E-BB14-D469D0568066}"/>
              </a:ext>
            </a:extLst>
          </p:cNvPr>
          <p:cNvPicPr>
            <a:picLocks noChangeAspect="1"/>
          </p:cNvPicPr>
          <p:nvPr userDrawn="1"/>
        </p:nvPicPr>
        <p:blipFill>
          <a:blip r:embed="rId3"/>
          <a:stretch>
            <a:fillRect/>
          </a:stretch>
        </p:blipFill>
        <p:spPr>
          <a:xfrm>
            <a:off x="382270" y="132080"/>
            <a:ext cx="1113411" cy="988060"/>
          </a:xfrm>
          <a:prstGeom prst="rect">
            <a:avLst/>
          </a:prstGeom>
        </p:spPr>
      </p:pic>
    </p:spTree>
    <p:extLst>
      <p:ext uri="{BB962C8B-B14F-4D97-AF65-F5344CB8AC3E}">
        <p14:creationId xmlns:p14="http://schemas.microsoft.com/office/powerpoint/2010/main" val="18069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0318-CC45-A342-AEE3-670F36387ECF}"/>
              </a:ext>
            </a:extLst>
          </p:cNvPr>
          <p:cNvSpPr>
            <a:spLocks noGrp="1"/>
          </p:cNvSpPr>
          <p:nvPr>
            <p:ph type="title" hasCustomPrompt="1"/>
          </p:nvPr>
        </p:nvSpPr>
        <p:spPr>
          <a:xfrm>
            <a:off x="831850" y="1709738"/>
            <a:ext cx="10515600" cy="2852737"/>
          </a:xfrm>
        </p:spPr>
        <p:txBody>
          <a:bodyPr anchor="b"/>
          <a:lstStyle>
            <a:lvl1pPr>
              <a:defRPr sz="6000"/>
            </a:lvl1pPr>
          </a:lstStyle>
          <a:p>
            <a:r>
              <a:rPr lang="en-US" dirty="0"/>
              <a:t>Divider Slide</a:t>
            </a:r>
          </a:p>
        </p:txBody>
      </p:sp>
      <p:sp>
        <p:nvSpPr>
          <p:cNvPr id="3" name="Text Placeholder 2">
            <a:extLst>
              <a:ext uri="{FF2B5EF4-FFF2-40B4-BE49-F238E27FC236}">
                <a16:creationId xmlns:a16="http://schemas.microsoft.com/office/drawing/2014/main" id="{DAA57E59-4F7B-3B4C-B9E7-67DE80EDB614}"/>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Or Alternative Title Slide</a:t>
            </a:r>
          </a:p>
        </p:txBody>
      </p:sp>
      <p:sp>
        <p:nvSpPr>
          <p:cNvPr id="4" name="Date Placeholder 3">
            <a:extLst>
              <a:ext uri="{FF2B5EF4-FFF2-40B4-BE49-F238E27FC236}">
                <a16:creationId xmlns:a16="http://schemas.microsoft.com/office/drawing/2014/main" id="{0A8DE7E8-47E7-104E-BF54-359C263C9962}"/>
              </a:ext>
            </a:extLst>
          </p:cNvPr>
          <p:cNvSpPr>
            <a:spLocks noGrp="1"/>
          </p:cNvSpPr>
          <p:nvPr>
            <p:ph type="dt" sz="half" idx="10"/>
          </p:nvPr>
        </p:nvSpPr>
        <p:spPr/>
        <p:txBody>
          <a:bodyPr/>
          <a:lstStyle/>
          <a:p>
            <a:fld id="{8254A545-610A-3246-BBF7-82AC132EB6A8}" type="datetimeFigureOut">
              <a:rPr lang="en-US" smtClean="0"/>
              <a:t>12/3/2024</a:t>
            </a:fld>
            <a:endParaRPr lang="en-US"/>
          </a:p>
        </p:txBody>
      </p:sp>
      <p:sp>
        <p:nvSpPr>
          <p:cNvPr id="5" name="Footer Placeholder 4">
            <a:extLst>
              <a:ext uri="{FF2B5EF4-FFF2-40B4-BE49-F238E27FC236}">
                <a16:creationId xmlns:a16="http://schemas.microsoft.com/office/drawing/2014/main" id="{7F2DE16E-EEEB-F04D-B629-FBE01C97F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47F99-D730-2641-86EF-84BCC74BAAFB}"/>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a:extLst>
              <a:ext uri="{FF2B5EF4-FFF2-40B4-BE49-F238E27FC236}">
                <a16:creationId xmlns:a16="http://schemas.microsoft.com/office/drawing/2014/main" id="{922C809D-321E-F346-A4DE-20D8E77C95A2}"/>
              </a:ext>
            </a:extLst>
          </p:cNvPr>
          <p:cNvPicPr>
            <a:picLocks noChangeAspect="1"/>
          </p:cNvPicPr>
          <p:nvPr userDrawn="1"/>
        </p:nvPicPr>
        <p:blipFill>
          <a:blip r:embed="rId3"/>
          <a:stretch>
            <a:fillRect/>
          </a:stretch>
        </p:blipFill>
        <p:spPr>
          <a:xfrm>
            <a:off x="382270" y="132080"/>
            <a:ext cx="1113411" cy="988060"/>
          </a:xfrm>
          <a:prstGeom prst="rect">
            <a:avLst/>
          </a:prstGeom>
        </p:spPr>
      </p:pic>
    </p:spTree>
    <p:extLst>
      <p:ext uri="{BB962C8B-B14F-4D97-AF65-F5344CB8AC3E}">
        <p14:creationId xmlns:p14="http://schemas.microsoft.com/office/powerpoint/2010/main" val="2289550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E8205-8020-9E43-BDC9-8F0646FB4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DAD0D22-4086-394C-A571-C6BB444D3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3091FC-EF27-E34B-B5FE-194D933C9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4A545-610A-3246-BBF7-82AC132EB6A8}" type="datetimeFigureOut">
              <a:rPr lang="en-US" smtClean="0"/>
              <a:t>12/3/2024</a:t>
            </a:fld>
            <a:endParaRPr lang="en-US"/>
          </a:p>
        </p:txBody>
      </p:sp>
      <p:sp>
        <p:nvSpPr>
          <p:cNvPr id="5" name="Footer Placeholder 4">
            <a:extLst>
              <a:ext uri="{FF2B5EF4-FFF2-40B4-BE49-F238E27FC236}">
                <a16:creationId xmlns:a16="http://schemas.microsoft.com/office/drawing/2014/main" id="{EB871301-3F06-5A49-A699-BBCBCEEE5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74BA5A-8069-9D49-A99F-3AD1783CE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147F3-F4BF-2C46-AC54-645A1178D8F6}" type="slidenum">
              <a:rPr lang="en-US" smtClean="0"/>
              <a:t>‹#›</a:t>
            </a:fld>
            <a:endParaRPr lang="en-US"/>
          </a:p>
        </p:txBody>
      </p:sp>
    </p:spTree>
    <p:extLst>
      <p:ext uri="{BB962C8B-B14F-4D97-AF65-F5344CB8AC3E}">
        <p14:creationId xmlns:p14="http://schemas.microsoft.com/office/powerpoint/2010/main" val="4226485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hyperlink" Target="https://www.cohealthdata.dphe.state.co.us/chd/Resources/vs/2009/Colorado.pdf" TargetMode="External"/><Relationship Id="rId13" Type="http://schemas.openxmlformats.org/officeDocument/2006/relationships/hyperlink" Target="https://dph.illinois.gov/data-statistics/vital-statistics/death-statistics.html" TargetMode="External"/><Relationship Id="rId3" Type="http://schemas.openxmlformats.org/officeDocument/2006/relationships/hyperlink" Target="https://www.alz.org/alzheimers-dementia/facts-figures" TargetMode="External"/><Relationship Id="rId7" Type="http://schemas.openxmlformats.org/officeDocument/2006/relationships/hyperlink" Target="https://www.cdph.ca.gov/Programs/CCDPHP/DCDIC/CDCB/Pages/AlzheimersDataStatisticsReports.aspx" TargetMode="External"/><Relationship Id="rId12" Type="http://schemas.openxmlformats.org/officeDocument/2006/relationships/hyperlink" Target="https://publicdocuments.dhw.idaho.gov/WebLink/Browse.aspx?id=11605&amp;dbid=0&amp;repo=PUBLIC-DOCUMENTS" TargetMode="External"/><Relationship Id="rId17" Type="http://schemas.openxmlformats.org/officeDocument/2006/relationships/hyperlink" Target="https://www.courier-journal.com/story/health-bytes/2015/03/27/2015-alzheimers-report-shows-deaths-on-the-rise-and-disclosure-rate-low/70533064/" TargetMode="External"/><Relationship Id="rId2" Type="http://schemas.openxmlformats.org/officeDocument/2006/relationships/hyperlink" Target="https://www.macrotrends.net/global-metrics/states/utah/population" TargetMode="External"/><Relationship Id="rId16" Type="http://schemas.openxmlformats.org/officeDocument/2006/relationships/hyperlink" Target="https://publications.iowa.gov/39296/1/vital_stats_2019_brief-20200409.pdf" TargetMode="External"/><Relationship Id="rId1" Type="http://schemas.openxmlformats.org/officeDocument/2006/relationships/slideLayout" Target="../slideLayouts/slideLayout2.xml"/><Relationship Id="rId6" Type="http://schemas.openxmlformats.org/officeDocument/2006/relationships/hyperlink" Target="https://www.cdph.ca.gov/Programs/CHSI/CDPH%20Document%20Library/Alzheimer%20DDTS%20Document%20Final.pdf" TargetMode="External"/><Relationship Id="rId11" Type="http://schemas.openxmlformats.org/officeDocument/2006/relationships/hyperlink" Target="https://health.hawaii.gov/vitalstatistics/" TargetMode="External"/><Relationship Id="rId5" Type="http://schemas.openxmlformats.org/officeDocument/2006/relationships/hyperlink" Target="https://health.alaska.gov/dph/VitalStats/Documents/PDFs/2006/2006_Death_web.pdf" TargetMode="External"/><Relationship Id="rId15" Type="http://schemas.openxmlformats.org/officeDocument/2006/relationships/hyperlink" Target="https://www.kdhe.ks.gov/1820/Kansas-Vital-Statistics-at-a-Glance" TargetMode="External"/><Relationship Id="rId10" Type="http://schemas.openxmlformats.org/officeDocument/2006/relationships/hyperlink" Target="https://oasis.state.ga.us/oasis/webquery/qryADRDMortality.aspx" TargetMode="External"/><Relationship Id="rId4" Type="http://schemas.openxmlformats.org/officeDocument/2006/relationships/hyperlink" Target="https://healthy.arkansas.gov/wp-content/uploads/lead_2015_closed.pdf#:~:text=2015%20Alzheimer" TargetMode="External"/><Relationship Id="rId9" Type="http://schemas.openxmlformats.org/officeDocument/2006/relationships/hyperlink" Target="https://dhss.delaware.gov/dph/hp/files/ar2009.pdf" TargetMode="External"/><Relationship Id="rId14" Type="http://schemas.openxmlformats.org/officeDocument/2006/relationships/hyperlink" Target="https://www.in.gov/health/reports/mortality/2009/highlights.htm"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www.nyc.gov/assets/doh/downloads/pdf/vs/2007sum.pdf" TargetMode="External"/><Relationship Id="rId13" Type="http://schemas.openxmlformats.org/officeDocument/2006/relationships/hyperlink" Target="https://www.pa.gov/content/dam/copapwp-pagov/en/health/documents/topics/healthstatistics/vitalstatistics/countyhealthprofiles/documents/County_Health_Profiles_2008.pdf" TargetMode="External"/><Relationship Id="rId3" Type="http://schemas.openxmlformats.org/officeDocument/2006/relationships/hyperlink" Target="https://www.mdch.state.mi.us/osr/CRI/Alzheimers.asp" TargetMode="External"/><Relationship Id="rId7" Type="http://schemas.openxmlformats.org/officeDocument/2006/relationships/hyperlink" Target="https://www-doh.nj.gov/doh-shad/indicator/view/AlzDeath.Trend.html?PrinterFriendly=x" TargetMode="External"/><Relationship Id="rId12" Type="http://schemas.openxmlformats.org/officeDocument/2006/relationships/hyperlink" Target="https://www.health.state.ok.us/stats/Vital_Statistics/Death/Final/Tables.shtml" TargetMode="External"/><Relationship Id="rId2" Type="http://schemas.openxmlformats.org/officeDocument/2006/relationships/hyperlink" Target="https://www.maine.gov/dhhs/mecdc/public-health-systems/data-research/data/documents/2020%20Mortality%20Report%20Final%20071722.pdf" TargetMode="External"/><Relationship Id="rId1" Type="http://schemas.openxmlformats.org/officeDocument/2006/relationships/slideLayout" Target="../slideLayouts/slideLayout2.xml"/><Relationship Id="rId6" Type="http://schemas.openxmlformats.org/officeDocument/2006/relationships/hyperlink" Target="https://dhhs.ne.gov/Reports/Vital%20Statistics%20Report%202010.pdf" TargetMode="External"/><Relationship Id="rId11" Type="http://schemas.openxmlformats.org/officeDocument/2006/relationships/hyperlink" Target="https://odh.ohio.gov/wps/wcm/connect/gov/0ee853f1-e546-4fdd-9422-3c0b055984e1/Cognitive+Decline+and++Dementia+in+Ohio_Final.pdf?MOD=AJPERES" TargetMode="External"/><Relationship Id="rId5" Type="http://schemas.openxmlformats.org/officeDocument/2006/relationships/hyperlink" Target="https://msdh.ms.gov/phs/2007/Summary/dthst07.pdf" TargetMode="External"/><Relationship Id="rId15" Type="http://schemas.openxmlformats.org/officeDocument/2006/relationships/hyperlink" Target="https://doh.sd.gov/media/ngfhbvum/sd_mortality_2004-2020.pdf" TargetMode="External"/><Relationship Id="rId10" Type="http://schemas.openxmlformats.org/officeDocument/2006/relationships/hyperlink" Target="https://app.powerbigov.us/view?r=eyJrIjoiZjI3N2ZhOGItNWFmYS00NzE0LWFlZGMtN2ZhZDIxNTFhNzlmIiwidCI6IjJkZWEwNDY0LWRhNTEtNGE4OC1iYWUyLWIzZGI5NGJjMGM1NCJ9&amp;pageName=ReportSectiona726e088257f0d4315b8" TargetMode="External"/><Relationship Id="rId4" Type="http://schemas.openxmlformats.org/officeDocument/2006/relationships/hyperlink" Target="https://minnesotareformer.com/2023/10/10/the-pandemic-changed-how-minnesotans-die/" TargetMode="External"/><Relationship Id="rId9" Type="http://schemas.openxmlformats.org/officeDocument/2006/relationships/hyperlink" Target="https://ibis.doh.nm.gov/query/result/mort/MortCnty/Count.html" TargetMode="External"/><Relationship Id="rId14" Type="http://schemas.openxmlformats.org/officeDocument/2006/relationships/hyperlink" Target="https://sc.edu/study/colleges_schools/public_health/documents/alzheimers_registry_report.pdf"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americashealthrankings.org/explore/measures/costburden_women/MD" TargetMode="External"/><Relationship Id="rId13" Type="http://schemas.openxmlformats.org/officeDocument/2006/relationships/hyperlink" Target="https://www.pewresearch.org/social-trends/fact-sheet/facts-about-the-us-black-population/" TargetMode="External"/><Relationship Id="rId3" Type="http://schemas.openxmlformats.org/officeDocument/2006/relationships/hyperlink" Target="https://www.dshs.texas.gov/alzheimers-disease/alzheimers-disease-statistics" TargetMode="External"/><Relationship Id="rId7" Type="http://schemas.openxmlformats.org/officeDocument/2006/relationships/hyperlink" Target="https://deadorkicking.com/death-statistics/us/" TargetMode="External"/><Relationship Id="rId12" Type="http://schemas.openxmlformats.org/officeDocument/2006/relationships/hyperlink" Target="https://en.wikipedia.org/wiki/White_Americans" TargetMode="External"/><Relationship Id="rId2" Type="http://schemas.openxmlformats.org/officeDocument/2006/relationships/hyperlink" Target="https://www.tn.gov/health/health-program-areas/statistics/health-data/death-statistics.html" TargetMode="External"/><Relationship Id="rId16" Type="http://schemas.openxmlformats.org/officeDocument/2006/relationships/hyperlink" Target="https://evictionlab.org/map/?m=modeled&amp;c=p&amp;b=efr&amp;s=all&amp;r=states&amp;y=2015&amp;z=2.76&amp;lat=41.32&amp;lon=-106.33&amp;lang=en" TargetMode="External"/><Relationship Id="rId1" Type="http://schemas.openxmlformats.org/officeDocument/2006/relationships/slideLayout" Target="../slideLayouts/slideLayout2.xml"/><Relationship Id="rId6" Type="http://schemas.openxmlformats.org/officeDocument/2006/relationships/hyperlink" Target="https://apps.vdh.virginia.gov/HealthStats/stats.htm" TargetMode="External"/><Relationship Id="rId11" Type="http://schemas.openxmlformats.org/officeDocument/2006/relationships/hyperlink" Target="https://usafacts.org/data/topics/people-society/population-and-demographics/our-changing-population/" TargetMode="External"/><Relationship Id="rId5" Type="http://schemas.openxmlformats.org/officeDocument/2006/relationships/hyperlink" Target="https://www.cdc.gov/nchs/data/databriefs/db116.pdf" TargetMode="External"/><Relationship Id="rId15" Type="http://schemas.openxmlformats.org/officeDocument/2006/relationships/hyperlink" Target="https://wid.world/data/" TargetMode="External"/><Relationship Id="rId10" Type="http://schemas.openxmlformats.org/officeDocument/2006/relationships/hyperlink" Target="https://en.wikipedia.org/wiki/Demographics_of_the_United_States" TargetMode="External"/><Relationship Id="rId4" Type="http://schemas.openxmlformats.org/officeDocument/2006/relationships/hyperlink" Target="https://ibis.utah.gov/ibisph-view/indicator/complete_profile/AlzDea.html" TargetMode="External"/><Relationship Id="rId9" Type="http://schemas.openxmlformats.org/officeDocument/2006/relationships/hyperlink" Target="https://www.census.gov/library/stories/2021/08/improved-race-ethnicity-measures-reveal-united-states-population-much-more-multiracial.html" TargetMode="External"/><Relationship Id="rId14" Type="http://schemas.openxmlformats.org/officeDocument/2006/relationships/hyperlink" Target="https://blackdemographics.com/population/black-state-population/"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989A-375A-E2E7-1F60-89DBF4806CF7}"/>
              </a:ext>
            </a:extLst>
          </p:cNvPr>
          <p:cNvSpPr>
            <a:spLocks noGrp="1"/>
          </p:cNvSpPr>
          <p:nvPr>
            <p:ph type="ctrTitle"/>
          </p:nvPr>
        </p:nvSpPr>
        <p:spPr>
          <a:xfrm>
            <a:off x="1459992" y="3280727"/>
            <a:ext cx="9144000" cy="1006475"/>
          </a:xfrm>
        </p:spPr>
        <p:txBody>
          <a:bodyPr>
            <a:normAutofit fontScale="90000"/>
          </a:bodyPr>
          <a:lstStyle/>
          <a:p>
            <a:r>
              <a:rPr lang="en-US" b="1" dirty="0"/>
              <a:t>Capstone Project – Wyandotte County Data</a:t>
            </a:r>
          </a:p>
        </p:txBody>
      </p:sp>
      <p:sp>
        <p:nvSpPr>
          <p:cNvPr id="3" name="Subtitle 2">
            <a:extLst>
              <a:ext uri="{FF2B5EF4-FFF2-40B4-BE49-F238E27FC236}">
                <a16:creationId xmlns:a16="http://schemas.microsoft.com/office/drawing/2014/main" id="{4D2085A5-58CD-56B8-62B7-E8635B2E78B9}"/>
              </a:ext>
            </a:extLst>
          </p:cNvPr>
          <p:cNvSpPr>
            <a:spLocks noGrp="1"/>
          </p:cNvSpPr>
          <p:nvPr>
            <p:ph type="subTitle" idx="1"/>
          </p:nvPr>
        </p:nvSpPr>
        <p:spPr>
          <a:xfrm>
            <a:off x="1459992" y="4690174"/>
            <a:ext cx="9144000" cy="1655762"/>
          </a:xfrm>
        </p:spPr>
        <p:txBody>
          <a:bodyPr/>
          <a:lstStyle/>
          <a:p>
            <a:r>
              <a:rPr lang="en-US" dirty="0"/>
              <a:t>Presented by</a:t>
            </a:r>
          </a:p>
          <a:p>
            <a:r>
              <a:rPr lang="en-US" dirty="0"/>
              <a:t>Hamza Khader Shaik Mohammed</a:t>
            </a:r>
          </a:p>
        </p:txBody>
      </p:sp>
      <p:sp>
        <p:nvSpPr>
          <p:cNvPr id="4" name="TextBox 3">
            <a:extLst>
              <a:ext uri="{FF2B5EF4-FFF2-40B4-BE49-F238E27FC236}">
                <a16:creationId xmlns:a16="http://schemas.microsoft.com/office/drawing/2014/main" id="{F21A4A54-32FB-3A79-229C-C15C05B546BD}"/>
              </a:ext>
            </a:extLst>
          </p:cNvPr>
          <p:cNvSpPr txBox="1"/>
          <p:nvPr/>
        </p:nvSpPr>
        <p:spPr>
          <a:xfrm>
            <a:off x="5605273" y="6379576"/>
            <a:ext cx="685800" cy="369332"/>
          </a:xfrm>
          <a:prstGeom prst="rect">
            <a:avLst/>
          </a:prstGeom>
          <a:noFill/>
        </p:spPr>
        <p:txBody>
          <a:bodyPr wrap="square" rtlCol="0">
            <a:spAutoFit/>
          </a:bodyPr>
          <a:lstStyle/>
          <a:p>
            <a:pPr algn="ctr"/>
            <a:r>
              <a:rPr lang="en-US" dirty="0"/>
              <a:t>1</a:t>
            </a:r>
          </a:p>
        </p:txBody>
      </p:sp>
    </p:spTree>
    <p:extLst>
      <p:ext uri="{BB962C8B-B14F-4D97-AF65-F5344CB8AC3E}">
        <p14:creationId xmlns:p14="http://schemas.microsoft.com/office/powerpoint/2010/main" val="305653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345733-D8FA-0848-B76E-1E534B1D254A}"/>
              </a:ext>
            </a:extLst>
          </p:cNvPr>
          <p:cNvSpPr>
            <a:spLocks noGrp="1"/>
          </p:cNvSpPr>
          <p:nvPr>
            <p:ph type="title"/>
          </p:nvPr>
        </p:nvSpPr>
        <p:spPr/>
        <p:txBody>
          <a:bodyPr>
            <a:noAutofit/>
          </a:bodyPr>
          <a:lstStyle/>
          <a:p>
            <a:r>
              <a:rPr lang="en-US" sz="3700" b="1" dirty="0"/>
              <a:t>Project Objective and Initial Project Synopsis</a:t>
            </a:r>
          </a:p>
        </p:txBody>
      </p:sp>
      <p:sp>
        <p:nvSpPr>
          <p:cNvPr id="5" name="Content Placeholder 4">
            <a:extLst>
              <a:ext uri="{FF2B5EF4-FFF2-40B4-BE49-F238E27FC236}">
                <a16:creationId xmlns:a16="http://schemas.microsoft.com/office/drawing/2014/main" id="{35A8DD95-FCBC-B144-AE89-FAB980D9AAC2}"/>
              </a:ext>
            </a:extLst>
          </p:cNvPr>
          <p:cNvSpPr>
            <a:spLocks noGrp="1"/>
          </p:cNvSpPr>
          <p:nvPr>
            <p:ph idx="1"/>
          </p:nvPr>
        </p:nvSpPr>
        <p:spPr/>
        <p:txBody>
          <a:bodyPr>
            <a:normAutofit fontScale="92500"/>
          </a:bodyPr>
          <a:lstStyle/>
          <a:p>
            <a:r>
              <a:rPr lang="en-US" b="1" dirty="0"/>
              <a:t>Project Objective: </a:t>
            </a:r>
            <a:r>
              <a:rPr lang="en-US" dirty="0"/>
              <a:t>To determine any relation between health outcomes and minimum wage preemption across different states in US.</a:t>
            </a:r>
          </a:p>
          <a:p>
            <a:pPr marL="0" indent="0">
              <a:buNone/>
            </a:pPr>
            <a:endParaRPr lang="en-US" dirty="0"/>
          </a:p>
          <a:p>
            <a:r>
              <a:rPr lang="en-US" b="1" dirty="0"/>
              <a:t>Initial Analysis: </a:t>
            </a:r>
            <a:r>
              <a:rPr lang="en-US" dirty="0"/>
              <a:t>In 2023, a cohort of health-focused Kansas organizations undertook a study to determine the effects that state-level minimum wage preemption had on health.</a:t>
            </a:r>
          </a:p>
          <a:p>
            <a:endParaRPr lang="en-US" dirty="0"/>
          </a:p>
          <a:p>
            <a:r>
              <a:rPr lang="en-US" b="1" dirty="0"/>
              <a:t>Minimum wage preemption </a:t>
            </a:r>
            <a:r>
              <a:rPr lang="en-US" dirty="0"/>
              <a:t>is when a higher level of government, like a state or federal government, blocks local governments from setting their own minimum wage rates.</a:t>
            </a:r>
          </a:p>
          <a:p>
            <a:endParaRPr lang="en-US" dirty="0"/>
          </a:p>
        </p:txBody>
      </p:sp>
      <p:sp>
        <p:nvSpPr>
          <p:cNvPr id="2" name="TextBox 1">
            <a:extLst>
              <a:ext uri="{FF2B5EF4-FFF2-40B4-BE49-F238E27FC236}">
                <a16:creationId xmlns:a16="http://schemas.microsoft.com/office/drawing/2014/main" id="{2E5EB57A-2CAF-6211-C904-BD5B2A9E20A6}"/>
              </a:ext>
            </a:extLst>
          </p:cNvPr>
          <p:cNvSpPr txBox="1"/>
          <p:nvPr/>
        </p:nvSpPr>
        <p:spPr>
          <a:xfrm>
            <a:off x="5605273" y="6379576"/>
            <a:ext cx="685800" cy="369332"/>
          </a:xfrm>
          <a:prstGeom prst="rect">
            <a:avLst/>
          </a:prstGeom>
          <a:noFill/>
        </p:spPr>
        <p:txBody>
          <a:bodyPr wrap="square" rtlCol="0">
            <a:spAutoFit/>
          </a:bodyPr>
          <a:lstStyle/>
          <a:p>
            <a:pPr algn="ctr"/>
            <a:r>
              <a:rPr lang="en-US" dirty="0"/>
              <a:t>2</a:t>
            </a:r>
          </a:p>
        </p:txBody>
      </p:sp>
    </p:spTree>
    <p:extLst>
      <p:ext uri="{BB962C8B-B14F-4D97-AF65-F5344CB8AC3E}">
        <p14:creationId xmlns:p14="http://schemas.microsoft.com/office/powerpoint/2010/main" val="2826804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747E4-6710-6648-A3BB-622C60616D68}"/>
              </a:ext>
            </a:extLst>
          </p:cNvPr>
          <p:cNvSpPr>
            <a:spLocks noGrp="1"/>
          </p:cNvSpPr>
          <p:nvPr>
            <p:ph type="title"/>
          </p:nvPr>
        </p:nvSpPr>
        <p:spPr/>
        <p:txBody>
          <a:bodyPr/>
          <a:lstStyle/>
          <a:p>
            <a:r>
              <a:rPr lang="en-US" b="1" dirty="0"/>
              <a:t>Data Set</a:t>
            </a:r>
          </a:p>
        </p:txBody>
      </p:sp>
      <p:sp>
        <p:nvSpPr>
          <p:cNvPr id="3" name="Content Placeholder 2">
            <a:extLst>
              <a:ext uri="{FF2B5EF4-FFF2-40B4-BE49-F238E27FC236}">
                <a16:creationId xmlns:a16="http://schemas.microsoft.com/office/drawing/2014/main" id="{57D2E082-FD92-2465-805E-C5A84B5DBD74}"/>
              </a:ext>
            </a:extLst>
          </p:cNvPr>
          <p:cNvSpPr>
            <a:spLocks noGrp="1"/>
          </p:cNvSpPr>
          <p:nvPr>
            <p:ph idx="1"/>
          </p:nvPr>
        </p:nvSpPr>
        <p:spPr/>
        <p:txBody>
          <a:bodyPr>
            <a:normAutofit/>
          </a:bodyPr>
          <a:lstStyle/>
          <a:p>
            <a:pPr marL="0" indent="0">
              <a:buNone/>
            </a:pPr>
            <a:r>
              <a:rPr lang="en-US" b="1" u="sng" dirty="0"/>
              <a:t>Features (Columns) </a:t>
            </a:r>
            <a:r>
              <a:rPr lang="en-US" b="1" dirty="0"/>
              <a:t>:</a:t>
            </a:r>
            <a:r>
              <a:rPr lang="en-US" sz="2400" i="0" u="none" strike="noStrike" dirty="0">
                <a:solidFill>
                  <a:srgbClr val="000000"/>
                </a:solidFill>
                <a:effectLst/>
              </a:rPr>
              <a:t>States,</a:t>
            </a:r>
            <a:r>
              <a:rPr lang="en-US" sz="2400" dirty="0"/>
              <a:t> </a:t>
            </a:r>
            <a:r>
              <a:rPr lang="en-US" sz="2400" i="0" u="none" strike="noStrike" dirty="0">
                <a:solidFill>
                  <a:srgbClr val="000000"/>
                </a:solidFill>
                <a:effectLst/>
              </a:rPr>
              <a:t>Preempted,</a:t>
            </a:r>
            <a:r>
              <a:rPr lang="en-US" sz="2400" dirty="0"/>
              <a:t> </a:t>
            </a:r>
            <a:r>
              <a:rPr lang="en-US" sz="2400" i="0" u="none" strike="noStrike" dirty="0">
                <a:solidFill>
                  <a:srgbClr val="000000"/>
                </a:solidFill>
                <a:effectLst/>
              </a:rPr>
              <a:t>Years,</a:t>
            </a:r>
            <a:r>
              <a:rPr lang="en-US" sz="2400" dirty="0"/>
              <a:t> </a:t>
            </a:r>
            <a:r>
              <a:rPr lang="en-US" sz="2400" i="0" u="none" strike="noStrike" dirty="0">
                <a:solidFill>
                  <a:srgbClr val="000000"/>
                </a:solidFill>
                <a:effectLst/>
              </a:rPr>
              <a:t>Years Ordered,</a:t>
            </a:r>
            <a:r>
              <a:rPr lang="en-US" sz="2400" dirty="0"/>
              <a:t> </a:t>
            </a:r>
            <a:r>
              <a:rPr lang="en-US" sz="2400" i="0" u="none" strike="noStrike" dirty="0">
                <a:solidFill>
                  <a:srgbClr val="000000"/>
                </a:solidFill>
                <a:effectLst/>
              </a:rPr>
              <a:t>Population,</a:t>
            </a:r>
            <a:r>
              <a:rPr lang="en-US" sz="2400" dirty="0"/>
              <a:t> </a:t>
            </a:r>
            <a:r>
              <a:rPr lang="en-US" sz="2400" i="0" u="none" strike="noStrike" dirty="0">
                <a:solidFill>
                  <a:srgbClr val="000000"/>
                </a:solidFill>
                <a:effectLst/>
              </a:rPr>
              <a:t>Alzheimer,</a:t>
            </a:r>
            <a:r>
              <a:rPr lang="en-US" sz="2400" dirty="0"/>
              <a:t> </a:t>
            </a:r>
            <a:r>
              <a:rPr lang="en-US" sz="2400" i="0" u="none" strike="noStrike" dirty="0">
                <a:solidFill>
                  <a:srgbClr val="000000"/>
                </a:solidFill>
                <a:effectLst/>
              </a:rPr>
              <a:t>Cardiovascular Disease,</a:t>
            </a:r>
            <a:r>
              <a:rPr lang="en-US" sz="2400" dirty="0"/>
              <a:t> </a:t>
            </a:r>
            <a:r>
              <a:rPr lang="en-US" sz="2400" i="0" u="none" strike="noStrike" dirty="0">
                <a:solidFill>
                  <a:srgbClr val="000000"/>
                </a:solidFill>
                <a:effectLst/>
              </a:rPr>
              <a:t>Respiratory Diseases, </a:t>
            </a:r>
            <a:r>
              <a:rPr lang="en-US" sz="2400" dirty="0"/>
              <a:t> </a:t>
            </a:r>
            <a:r>
              <a:rPr lang="en-US" sz="2400" i="0" u="none" strike="noStrike" dirty="0">
                <a:solidFill>
                  <a:srgbClr val="000000"/>
                </a:solidFill>
                <a:effectLst/>
              </a:rPr>
              <a:t>Cancer,</a:t>
            </a:r>
            <a:r>
              <a:rPr lang="en-US" sz="2400" dirty="0"/>
              <a:t> </a:t>
            </a:r>
            <a:r>
              <a:rPr lang="en-US" sz="2400" i="0" u="none" strike="noStrike" dirty="0">
                <a:solidFill>
                  <a:srgbClr val="000000"/>
                </a:solidFill>
                <a:effectLst/>
              </a:rPr>
              <a:t>Diabetes,</a:t>
            </a:r>
            <a:r>
              <a:rPr lang="en-US" sz="2400" dirty="0"/>
              <a:t> </a:t>
            </a:r>
            <a:r>
              <a:rPr lang="en-US" sz="2400" i="0" u="none" strike="noStrike" dirty="0">
                <a:solidFill>
                  <a:srgbClr val="000000"/>
                </a:solidFill>
                <a:effectLst/>
              </a:rPr>
              <a:t>Kidney Disease,</a:t>
            </a:r>
            <a:r>
              <a:rPr lang="en-US" sz="2400" dirty="0"/>
              <a:t> </a:t>
            </a:r>
            <a:r>
              <a:rPr lang="en-US" sz="2400" i="0" u="none" strike="noStrike" dirty="0">
                <a:solidFill>
                  <a:srgbClr val="000000"/>
                </a:solidFill>
                <a:effectLst/>
              </a:rPr>
              <a:t>Suicide, </a:t>
            </a:r>
            <a:r>
              <a:rPr lang="en-US" sz="2400" dirty="0"/>
              <a:t> </a:t>
            </a:r>
            <a:r>
              <a:rPr lang="en-US" sz="2400" i="0" u="none" strike="noStrike" dirty="0">
                <a:solidFill>
                  <a:srgbClr val="000000"/>
                </a:solidFill>
                <a:effectLst/>
              </a:rPr>
              <a:t>HIV,</a:t>
            </a:r>
            <a:r>
              <a:rPr lang="en-US" sz="2400" dirty="0"/>
              <a:t> </a:t>
            </a:r>
            <a:r>
              <a:rPr lang="en-US" sz="2400" i="0" u="none" strike="noStrike" dirty="0">
                <a:solidFill>
                  <a:srgbClr val="000000"/>
                </a:solidFill>
                <a:effectLst/>
              </a:rPr>
              <a:t>Firearm Mortality,</a:t>
            </a:r>
            <a:r>
              <a:rPr lang="en-US" sz="2400" dirty="0"/>
              <a:t> </a:t>
            </a:r>
            <a:r>
              <a:rPr lang="en-US" sz="2400" i="0" u="none" strike="noStrike" dirty="0">
                <a:solidFill>
                  <a:srgbClr val="000000"/>
                </a:solidFill>
                <a:effectLst/>
              </a:rPr>
              <a:t>Violent Crime Mortality,</a:t>
            </a:r>
            <a:r>
              <a:rPr lang="en-US" sz="2400" dirty="0"/>
              <a:t> </a:t>
            </a:r>
            <a:r>
              <a:rPr lang="en-US" sz="2400" i="0" u="none" strike="noStrike" dirty="0">
                <a:solidFill>
                  <a:srgbClr val="000000"/>
                </a:solidFill>
                <a:effectLst/>
              </a:rPr>
              <a:t>Drug Deaths,</a:t>
            </a:r>
            <a:r>
              <a:rPr lang="en-US" sz="2400" dirty="0"/>
              <a:t> </a:t>
            </a:r>
            <a:r>
              <a:rPr lang="en-US" sz="2400" i="0" u="none" strike="noStrike" dirty="0">
                <a:solidFill>
                  <a:srgbClr val="000000"/>
                </a:solidFill>
                <a:effectLst/>
              </a:rPr>
              <a:t>Obesity,</a:t>
            </a:r>
            <a:r>
              <a:rPr lang="en-US" sz="2400" dirty="0"/>
              <a:t> </a:t>
            </a:r>
            <a:r>
              <a:rPr lang="en-US" sz="2400" i="0" u="none" strike="noStrike" dirty="0">
                <a:solidFill>
                  <a:srgbClr val="000000"/>
                </a:solidFill>
                <a:effectLst/>
              </a:rPr>
              <a:t>Infant Mortality Rate,</a:t>
            </a:r>
            <a:r>
              <a:rPr lang="en-US" sz="2400" dirty="0"/>
              <a:t> </a:t>
            </a:r>
            <a:r>
              <a:rPr lang="en-US" sz="2400" i="0" u="none" strike="noStrike" dirty="0">
                <a:solidFill>
                  <a:srgbClr val="000000"/>
                </a:solidFill>
                <a:effectLst/>
              </a:rPr>
              <a:t>White perc,</a:t>
            </a:r>
            <a:r>
              <a:rPr lang="en-US" sz="2400" dirty="0"/>
              <a:t> </a:t>
            </a:r>
            <a:r>
              <a:rPr lang="en-US" sz="2400" i="0" u="none" strike="noStrike" dirty="0">
                <a:solidFill>
                  <a:srgbClr val="000000"/>
                </a:solidFill>
                <a:effectLst/>
              </a:rPr>
              <a:t>Black perc,</a:t>
            </a:r>
            <a:r>
              <a:rPr lang="en-US" sz="2400" dirty="0"/>
              <a:t> </a:t>
            </a:r>
            <a:r>
              <a:rPr lang="en-US" sz="2400" i="0" u="none" strike="noStrike" dirty="0">
                <a:solidFill>
                  <a:srgbClr val="000000"/>
                </a:solidFill>
                <a:effectLst/>
              </a:rPr>
              <a:t>Care Avoided due to Cost perc,</a:t>
            </a:r>
            <a:r>
              <a:rPr lang="en-US" sz="2400" dirty="0"/>
              <a:t> </a:t>
            </a:r>
            <a:r>
              <a:rPr lang="en-US" sz="2400" i="0" u="none" strike="noStrike" dirty="0">
                <a:solidFill>
                  <a:srgbClr val="000000"/>
                </a:solidFill>
                <a:effectLst/>
              </a:rPr>
              <a:t>Median Income, </a:t>
            </a:r>
            <a:r>
              <a:rPr lang="en-US" sz="2400" dirty="0"/>
              <a:t> </a:t>
            </a:r>
            <a:r>
              <a:rPr lang="en-US" sz="2400" i="0" u="none" strike="noStrike" dirty="0">
                <a:solidFill>
                  <a:srgbClr val="000000"/>
                </a:solidFill>
                <a:effectLst/>
              </a:rPr>
              <a:t>Income inequality,</a:t>
            </a:r>
            <a:r>
              <a:rPr lang="en-US" sz="2400" dirty="0"/>
              <a:t> </a:t>
            </a:r>
            <a:r>
              <a:rPr lang="en-US" sz="2400" i="0" u="none" strike="noStrike" dirty="0">
                <a:solidFill>
                  <a:srgbClr val="000000"/>
                </a:solidFill>
                <a:effectLst/>
              </a:rPr>
              <a:t>Housing Insecurity,</a:t>
            </a:r>
            <a:r>
              <a:rPr lang="en-US" sz="2400" dirty="0"/>
              <a:t> </a:t>
            </a:r>
            <a:r>
              <a:rPr lang="en-US" sz="2400" i="0" u="none" strike="noStrike" dirty="0">
                <a:solidFill>
                  <a:srgbClr val="000000"/>
                </a:solidFill>
                <a:effectLst/>
              </a:rPr>
              <a:t>Cost of Living Index,</a:t>
            </a:r>
            <a:r>
              <a:rPr lang="en-US" sz="2400" dirty="0"/>
              <a:t> </a:t>
            </a:r>
            <a:r>
              <a:rPr lang="en-US" sz="2400" i="0" u="none" strike="noStrike" dirty="0">
                <a:solidFill>
                  <a:srgbClr val="000000"/>
                </a:solidFill>
                <a:effectLst/>
              </a:rPr>
              <a:t>Child Mortality,</a:t>
            </a:r>
            <a:r>
              <a:rPr lang="en-US" sz="2400" dirty="0"/>
              <a:t> </a:t>
            </a:r>
            <a:r>
              <a:rPr lang="en-US" sz="2400" i="0" u="none" strike="noStrike" dirty="0">
                <a:solidFill>
                  <a:srgbClr val="000000"/>
                </a:solidFill>
                <a:effectLst/>
              </a:rPr>
              <a:t>Food Insecurity Perc,</a:t>
            </a:r>
            <a:r>
              <a:rPr lang="en-US" sz="2400" dirty="0"/>
              <a:t> </a:t>
            </a:r>
            <a:r>
              <a:rPr lang="en-US" sz="2400" i="0" u="none" strike="noStrike" dirty="0">
                <a:solidFill>
                  <a:srgbClr val="000000"/>
                </a:solidFill>
                <a:effectLst/>
              </a:rPr>
              <a:t>Current State Min Wage,</a:t>
            </a:r>
            <a:r>
              <a:rPr lang="en-US" sz="2400" dirty="0"/>
              <a:t> </a:t>
            </a:r>
            <a:r>
              <a:rPr lang="en-US" sz="2400" i="0" u="none" strike="noStrike" dirty="0">
                <a:solidFill>
                  <a:srgbClr val="000000"/>
                </a:solidFill>
                <a:effectLst/>
              </a:rPr>
              <a:t>Compared to Federal Wage,</a:t>
            </a:r>
            <a:r>
              <a:rPr lang="en-US" sz="2400" dirty="0"/>
              <a:t> </a:t>
            </a:r>
            <a:r>
              <a:rPr lang="en-US" sz="2400" i="0" u="none" strike="noStrike" dirty="0">
                <a:solidFill>
                  <a:srgbClr val="000000"/>
                </a:solidFill>
                <a:effectLst/>
              </a:rPr>
              <a:t>Annual Avg Temp </a:t>
            </a:r>
          </a:p>
          <a:p>
            <a:pPr marL="0" indent="0">
              <a:buNone/>
            </a:pPr>
            <a:endParaRPr lang="en-US" sz="2400" dirty="0"/>
          </a:p>
          <a:p>
            <a:pPr marL="0" indent="0">
              <a:buNone/>
            </a:pPr>
            <a:r>
              <a:rPr lang="en-US" b="1" u="sng" dirty="0"/>
              <a:t>Records (Rows)</a:t>
            </a:r>
            <a:r>
              <a:rPr lang="en-US" sz="2400" u="sng" dirty="0"/>
              <a:t> </a:t>
            </a:r>
            <a:r>
              <a:rPr lang="en-US" sz="2400" b="1" dirty="0"/>
              <a:t>: </a:t>
            </a:r>
            <a:r>
              <a:rPr lang="en-US" sz="2400" dirty="0"/>
              <a:t>All 50 US states</a:t>
            </a:r>
          </a:p>
          <a:p>
            <a:pPr marL="0" indent="0">
              <a:buNone/>
            </a:pPr>
            <a:endParaRPr lang="en-US" sz="2400" dirty="0"/>
          </a:p>
          <a:p>
            <a:pPr marL="0" indent="0">
              <a:buNone/>
            </a:pPr>
            <a:r>
              <a:rPr lang="en-US" sz="2400" dirty="0"/>
              <a:t>Size : 250 x 30</a:t>
            </a:r>
          </a:p>
        </p:txBody>
      </p:sp>
      <p:sp>
        <p:nvSpPr>
          <p:cNvPr id="4" name="TextBox 3">
            <a:extLst>
              <a:ext uri="{FF2B5EF4-FFF2-40B4-BE49-F238E27FC236}">
                <a16:creationId xmlns:a16="http://schemas.microsoft.com/office/drawing/2014/main" id="{A531A578-DC17-4337-AF3F-BC3DF9AA154D}"/>
              </a:ext>
            </a:extLst>
          </p:cNvPr>
          <p:cNvSpPr txBox="1"/>
          <p:nvPr/>
        </p:nvSpPr>
        <p:spPr>
          <a:xfrm>
            <a:off x="5605273" y="6379576"/>
            <a:ext cx="685800" cy="369332"/>
          </a:xfrm>
          <a:prstGeom prst="rect">
            <a:avLst/>
          </a:prstGeom>
          <a:noFill/>
        </p:spPr>
        <p:txBody>
          <a:bodyPr wrap="square" rtlCol="0">
            <a:spAutoFit/>
          </a:bodyPr>
          <a:lstStyle/>
          <a:p>
            <a:pPr algn="ctr"/>
            <a:r>
              <a:rPr lang="en-US" dirty="0"/>
              <a:t>3</a:t>
            </a:r>
          </a:p>
        </p:txBody>
      </p:sp>
    </p:spTree>
    <p:extLst>
      <p:ext uri="{BB962C8B-B14F-4D97-AF65-F5344CB8AC3E}">
        <p14:creationId xmlns:p14="http://schemas.microsoft.com/office/powerpoint/2010/main" val="687741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90BF-0BCC-5756-053D-CDE1D9C3ECEE}"/>
              </a:ext>
            </a:extLst>
          </p:cNvPr>
          <p:cNvSpPr>
            <a:spLocks noGrp="1"/>
          </p:cNvSpPr>
          <p:nvPr>
            <p:ph type="title"/>
          </p:nvPr>
        </p:nvSpPr>
        <p:spPr>
          <a:xfrm>
            <a:off x="2857500" y="300039"/>
            <a:ext cx="8503920" cy="957262"/>
          </a:xfrm>
        </p:spPr>
        <p:txBody>
          <a:bodyPr anchor="ctr">
            <a:normAutofit/>
          </a:bodyPr>
          <a:lstStyle/>
          <a:p>
            <a:r>
              <a:rPr lang="en-US" b="1" dirty="0"/>
              <a:t>Data Set</a:t>
            </a:r>
          </a:p>
        </p:txBody>
      </p:sp>
      <p:pic>
        <p:nvPicPr>
          <p:cNvPr id="10" name="Picture 9" descr="A screenshot of a computer screen&#10;&#10;Description automatically generated">
            <a:extLst>
              <a:ext uri="{FF2B5EF4-FFF2-40B4-BE49-F238E27FC236}">
                <a16:creationId xmlns:a16="http://schemas.microsoft.com/office/drawing/2014/main" id="{B7294B52-3DD6-5655-C4A2-45F94BFB0C0A}"/>
              </a:ext>
            </a:extLst>
          </p:cNvPr>
          <p:cNvPicPr>
            <a:picLocks noChangeAspect="1"/>
          </p:cNvPicPr>
          <p:nvPr/>
        </p:nvPicPr>
        <p:blipFill>
          <a:blip r:embed="rId2"/>
          <a:stretch>
            <a:fillRect/>
          </a:stretch>
        </p:blipFill>
        <p:spPr>
          <a:xfrm>
            <a:off x="68814" y="1463392"/>
            <a:ext cx="12038680" cy="4731391"/>
          </a:xfrm>
          <a:prstGeom prst="rect">
            <a:avLst/>
          </a:prstGeom>
          <a:noFill/>
        </p:spPr>
      </p:pic>
      <p:sp>
        <p:nvSpPr>
          <p:cNvPr id="11" name="TextBox 10">
            <a:extLst>
              <a:ext uri="{FF2B5EF4-FFF2-40B4-BE49-F238E27FC236}">
                <a16:creationId xmlns:a16="http://schemas.microsoft.com/office/drawing/2014/main" id="{DC329A4C-159D-2997-5D23-ADF92A925A00}"/>
              </a:ext>
            </a:extLst>
          </p:cNvPr>
          <p:cNvSpPr txBox="1"/>
          <p:nvPr/>
        </p:nvSpPr>
        <p:spPr>
          <a:xfrm>
            <a:off x="5605273" y="6379576"/>
            <a:ext cx="685800" cy="369332"/>
          </a:xfrm>
          <a:prstGeom prst="rect">
            <a:avLst/>
          </a:prstGeom>
          <a:noFill/>
        </p:spPr>
        <p:txBody>
          <a:bodyPr wrap="square" rtlCol="0">
            <a:spAutoFit/>
          </a:bodyPr>
          <a:lstStyle/>
          <a:p>
            <a:pPr algn="ctr"/>
            <a:r>
              <a:rPr lang="en-US" dirty="0"/>
              <a:t>6</a:t>
            </a:r>
          </a:p>
        </p:txBody>
      </p:sp>
    </p:spTree>
    <p:extLst>
      <p:ext uri="{BB962C8B-B14F-4D97-AF65-F5344CB8AC3E}">
        <p14:creationId xmlns:p14="http://schemas.microsoft.com/office/powerpoint/2010/main" val="719666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53280-5194-A866-ADFD-F21866187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16FF7-15A6-49B4-4558-AB0A8D2DB1AF}"/>
              </a:ext>
            </a:extLst>
          </p:cNvPr>
          <p:cNvSpPr>
            <a:spLocks noGrp="1"/>
          </p:cNvSpPr>
          <p:nvPr>
            <p:ph type="title"/>
          </p:nvPr>
        </p:nvSpPr>
        <p:spPr>
          <a:xfrm>
            <a:off x="2857500" y="300039"/>
            <a:ext cx="8503920" cy="957262"/>
          </a:xfrm>
        </p:spPr>
        <p:txBody>
          <a:bodyPr anchor="ctr">
            <a:normAutofit/>
          </a:bodyPr>
          <a:lstStyle/>
          <a:p>
            <a:r>
              <a:rPr lang="en-US" b="1" dirty="0"/>
              <a:t>Data Set</a:t>
            </a:r>
          </a:p>
        </p:txBody>
      </p:sp>
      <p:pic>
        <p:nvPicPr>
          <p:cNvPr id="4" name="Picture 3">
            <a:extLst>
              <a:ext uri="{FF2B5EF4-FFF2-40B4-BE49-F238E27FC236}">
                <a16:creationId xmlns:a16="http://schemas.microsoft.com/office/drawing/2014/main" id="{F63ABF32-CAE1-E1E4-01B8-F510F979976F}"/>
              </a:ext>
            </a:extLst>
          </p:cNvPr>
          <p:cNvPicPr>
            <a:picLocks noChangeAspect="1"/>
          </p:cNvPicPr>
          <p:nvPr/>
        </p:nvPicPr>
        <p:blipFill>
          <a:blip r:embed="rId2"/>
          <a:stretch>
            <a:fillRect/>
          </a:stretch>
        </p:blipFill>
        <p:spPr>
          <a:xfrm>
            <a:off x="52751" y="1427474"/>
            <a:ext cx="12003720" cy="4771989"/>
          </a:xfrm>
          <a:prstGeom prst="rect">
            <a:avLst/>
          </a:prstGeom>
        </p:spPr>
      </p:pic>
      <p:sp>
        <p:nvSpPr>
          <p:cNvPr id="5" name="TextBox 4">
            <a:extLst>
              <a:ext uri="{FF2B5EF4-FFF2-40B4-BE49-F238E27FC236}">
                <a16:creationId xmlns:a16="http://schemas.microsoft.com/office/drawing/2014/main" id="{C600FE87-FD34-7F56-549F-790F0C289EDC}"/>
              </a:ext>
            </a:extLst>
          </p:cNvPr>
          <p:cNvSpPr txBox="1"/>
          <p:nvPr/>
        </p:nvSpPr>
        <p:spPr>
          <a:xfrm>
            <a:off x="5605273" y="6379576"/>
            <a:ext cx="685800" cy="369332"/>
          </a:xfrm>
          <a:prstGeom prst="rect">
            <a:avLst/>
          </a:prstGeom>
          <a:noFill/>
        </p:spPr>
        <p:txBody>
          <a:bodyPr wrap="square" rtlCol="0">
            <a:spAutoFit/>
          </a:bodyPr>
          <a:lstStyle/>
          <a:p>
            <a:pPr algn="ctr"/>
            <a:r>
              <a:rPr lang="en-US" dirty="0"/>
              <a:t>5</a:t>
            </a:r>
          </a:p>
        </p:txBody>
      </p:sp>
    </p:spTree>
    <p:extLst>
      <p:ext uri="{BB962C8B-B14F-4D97-AF65-F5344CB8AC3E}">
        <p14:creationId xmlns:p14="http://schemas.microsoft.com/office/powerpoint/2010/main" val="1806005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9F751-42AD-593F-A6F8-262D36C9ACE2}"/>
              </a:ext>
            </a:extLst>
          </p:cNvPr>
          <p:cNvSpPr>
            <a:spLocks noGrp="1"/>
          </p:cNvSpPr>
          <p:nvPr>
            <p:ph type="title"/>
          </p:nvPr>
        </p:nvSpPr>
        <p:spPr>
          <a:xfrm>
            <a:off x="2857500" y="301752"/>
            <a:ext cx="8503920" cy="960120"/>
          </a:xfrm>
        </p:spPr>
        <p:txBody>
          <a:bodyPr anchor="ctr">
            <a:normAutofit/>
          </a:bodyPr>
          <a:lstStyle/>
          <a:p>
            <a:r>
              <a:rPr lang="en-US" dirty="0"/>
              <a:t>Data scraping (Automation)</a:t>
            </a:r>
          </a:p>
        </p:txBody>
      </p:sp>
      <p:sp>
        <p:nvSpPr>
          <p:cNvPr id="7" name="Rectangle 2">
            <a:extLst>
              <a:ext uri="{FF2B5EF4-FFF2-40B4-BE49-F238E27FC236}">
                <a16:creationId xmlns:a16="http://schemas.microsoft.com/office/drawing/2014/main" id="{03B6E291-398A-07E5-E47A-C0821F107558}"/>
              </a:ext>
            </a:extLst>
          </p:cNvPr>
          <p:cNvSpPr>
            <a:spLocks noGrp="1" noChangeArrowheads="1"/>
          </p:cNvSpPr>
          <p:nvPr>
            <p:ph sz="half" idx="2"/>
          </p:nvPr>
        </p:nvSpPr>
        <p:spPr bwMode="auto">
          <a:xfrm>
            <a:off x="583735" y="1352266"/>
            <a:ext cx="11608265"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Libraries</a:t>
            </a:r>
          </a:p>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sz="1300" b="1" i="0" u="none" strike="noStrike" cap="none" normalizeH="0" baseline="0" dirty="0" err="1">
                <a:ln>
                  <a:noFill/>
                </a:ln>
                <a:solidFill>
                  <a:schemeClr val="tx1"/>
                </a:solidFill>
                <a:effectLst/>
                <a:latin typeface="Arial Unicode MS"/>
              </a:rPr>
              <a:t>fitz</a:t>
            </a:r>
            <a:r>
              <a:rPr kumimoji="0" lang="en-US" altLang="en-US" sz="1300" b="1" i="0" u="none" strike="noStrike" cap="none" normalizeH="0" baseline="0" dirty="0">
                <a:ln>
                  <a:noFill/>
                </a:ln>
                <a:solidFill>
                  <a:schemeClr val="tx1"/>
                </a:solidFill>
                <a:effectLst/>
              </a:rPr>
              <a:t> (</a:t>
            </a:r>
            <a:r>
              <a:rPr kumimoji="0" lang="en-US" altLang="en-US" sz="1300" b="1" i="0" u="none" strike="noStrike" cap="none" normalizeH="0" baseline="0" dirty="0" err="1">
                <a:ln>
                  <a:noFill/>
                </a:ln>
                <a:solidFill>
                  <a:schemeClr val="tx1"/>
                </a:solidFill>
                <a:effectLst/>
              </a:rPr>
              <a:t>PyMuPDF</a:t>
            </a:r>
            <a:r>
              <a:rPr kumimoji="0" lang="en-US" altLang="en-US" sz="1300" b="1" i="0" u="none" strike="noStrike" cap="none" normalizeH="0" baseline="0" dirty="0">
                <a:ln>
                  <a:noFill/>
                </a:ln>
                <a:solidFill>
                  <a:schemeClr val="tx1"/>
                </a:solidFill>
                <a:effectLst/>
              </a:rPr>
              <a:t>)</a:t>
            </a:r>
            <a:r>
              <a:rPr kumimoji="0" lang="en-US" altLang="en-US" sz="1300" b="0" i="0" u="none" strike="noStrike" cap="none" normalizeH="0" baseline="0" dirty="0">
                <a:ln>
                  <a:noFill/>
                </a:ln>
                <a:solidFill>
                  <a:schemeClr val="tx1"/>
                </a:solidFill>
                <a:effectLst/>
                <a:latin typeface="Arial" panose="020B0604020202020204" pitchFamily="34" charset="0"/>
              </a:rPr>
              <a:t>:</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Used for opening and manipulating PDF files. It allows you to extract text and handle document operations.</a:t>
            </a: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1300" b="1" i="0" u="none" strike="noStrike" cap="none" normalizeH="0" baseline="0" dirty="0">
                <a:ln>
                  <a:noFill/>
                </a:ln>
                <a:solidFill>
                  <a:schemeClr val="tx1"/>
                </a:solidFill>
                <a:effectLst/>
                <a:latin typeface="Arial Unicode MS"/>
              </a:rPr>
              <a:t>re</a:t>
            </a:r>
            <a:r>
              <a:rPr kumimoji="0" lang="en-US" altLang="en-US" sz="1300" b="0" i="0" u="none" strike="noStrike" cap="none" normalizeH="0" baseline="0" dirty="0">
                <a:ln>
                  <a:noFill/>
                </a:ln>
                <a:solidFill>
                  <a:schemeClr val="tx1"/>
                </a:solidFill>
                <a:effectLst/>
              </a:rPr>
              <a:t>:</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 built-in library in Python for working with regular expressions, allowing you to search for patterns in strings.</a:t>
            </a: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sz="1300" b="1" i="0" u="none" strike="noStrike" cap="none" normalizeH="0" baseline="0" dirty="0">
                <a:ln>
                  <a:noFill/>
                </a:ln>
                <a:solidFill>
                  <a:schemeClr val="tx1"/>
                </a:solidFill>
                <a:effectLst/>
                <a:latin typeface="Arial Unicode MS"/>
              </a:rPr>
              <a:t>requests</a:t>
            </a:r>
            <a:r>
              <a:rPr kumimoji="0" lang="en-US" altLang="en-US" sz="1300" b="0" i="0" u="none" strike="noStrike" cap="none" normalizeH="0" baseline="0" dirty="0">
                <a:ln>
                  <a:noFill/>
                </a:ln>
                <a:solidFill>
                  <a:schemeClr val="tx1"/>
                </a:solidFill>
                <a:effectLst/>
              </a:rPr>
              <a:t>:</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 popular library for making HTTP requests in Python, used to download files from the web.</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Functions</a:t>
            </a:r>
          </a:p>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sz="1300" b="1" i="0" u="none" strike="noStrike" cap="none" normalizeH="0" baseline="0" dirty="0" err="1">
                <a:ln>
                  <a:noFill/>
                </a:ln>
                <a:solidFill>
                  <a:schemeClr val="tx1"/>
                </a:solidFill>
                <a:effectLst/>
                <a:latin typeface="Arial Unicode MS"/>
              </a:rPr>
              <a:t>download_pdf</a:t>
            </a:r>
            <a:r>
              <a:rPr kumimoji="0" lang="en-US" altLang="en-US" sz="1300" b="1" i="0" u="none" strike="noStrike" cap="none" normalizeH="0" baseline="0" dirty="0">
                <a:ln>
                  <a:noFill/>
                </a:ln>
                <a:solidFill>
                  <a:schemeClr val="tx1"/>
                </a:solidFill>
                <a:effectLst/>
                <a:latin typeface="Arial Unicode MS"/>
              </a:rPr>
              <a:t>(</a:t>
            </a:r>
            <a:r>
              <a:rPr kumimoji="0" lang="en-US" altLang="en-US" sz="1300" b="1" i="0" u="none" strike="noStrike" cap="none" normalizeH="0" baseline="0" dirty="0" err="1">
                <a:ln>
                  <a:noFill/>
                </a:ln>
                <a:solidFill>
                  <a:schemeClr val="tx1"/>
                </a:solidFill>
                <a:effectLst/>
                <a:latin typeface="Arial Unicode MS"/>
              </a:rPr>
              <a:t>url</a:t>
            </a:r>
            <a:r>
              <a:rPr kumimoji="0" lang="en-US" altLang="en-US" sz="1300" b="1" i="0" u="none" strike="noStrike" cap="none" normalizeH="0" baseline="0" dirty="0">
                <a:ln>
                  <a:noFill/>
                </a:ln>
                <a:solidFill>
                  <a:schemeClr val="tx1"/>
                </a:solidFill>
                <a:effectLst/>
                <a:latin typeface="Arial Unicode MS"/>
              </a:rPr>
              <a:t>, </a:t>
            </a:r>
            <a:r>
              <a:rPr kumimoji="0" lang="en-US" altLang="en-US" sz="1300" b="1" i="0" u="none" strike="noStrike" cap="none" normalizeH="0" baseline="0" dirty="0" err="1">
                <a:ln>
                  <a:noFill/>
                </a:ln>
                <a:solidFill>
                  <a:schemeClr val="tx1"/>
                </a:solidFill>
                <a:effectLst/>
                <a:latin typeface="Arial Unicode MS"/>
              </a:rPr>
              <a:t>save_path</a:t>
            </a:r>
            <a:r>
              <a:rPr kumimoji="0" lang="en-US" altLang="en-US" sz="1300" b="1" i="0" u="none" strike="noStrike" cap="none" normalizeH="0" baseline="0" dirty="0">
                <a:ln>
                  <a:noFill/>
                </a:ln>
                <a:solidFill>
                  <a:schemeClr val="tx1"/>
                </a:solidFill>
                <a:effectLst/>
                <a:latin typeface="Arial Unicode MS"/>
              </a:rPr>
              <a:t>)</a:t>
            </a:r>
            <a:r>
              <a:rPr kumimoji="0" lang="en-US" altLang="en-US" sz="1300" b="0" i="0" u="none" strike="noStrike" cap="none" normalizeH="0" baseline="0" dirty="0">
                <a:ln>
                  <a:noFill/>
                </a:ln>
                <a:solidFill>
                  <a:schemeClr val="tx1"/>
                </a:solidFill>
                <a:effectLst/>
              </a:rPr>
              <a:t>:</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Downloads a PDF file from a specified URL and saves it to the given file path.</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chemeClr val="tx1"/>
                </a:solidFill>
                <a:effectLst/>
                <a:latin typeface="Arial" panose="020B0604020202020204" pitchFamily="34" charset="0"/>
              </a:rPr>
              <a:t>Parameters</a:t>
            </a:r>
            <a:r>
              <a:rPr kumimoji="0" lang="en-US" altLang="en-US" sz="1300" b="0" i="0" u="none" strike="noStrike" cap="none" normalizeH="0" baseline="0" dirty="0">
                <a:ln>
                  <a:noFill/>
                </a:ln>
                <a:solidFill>
                  <a:schemeClr val="tx1"/>
                </a:solidFill>
                <a:effectLst/>
                <a:latin typeface="Arial" panose="020B0604020202020204" pitchFamily="34" charset="0"/>
              </a:rPr>
              <a:t>:</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Unicode MS"/>
              </a:rPr>
              <a:t>url</a:t>
            </a:r>
            <a:r>
              <a:rPr kumimoji="0" lang="en-US" altLang="en-US" sz="1300" b="0" i="0" u="none" strike="noStrike" cap="none" normalizeH="0" baseline="0" dirty="0">
                <a:ln>
                  <a:noFill/>
                </a:ln>
                <a:solidFill>
                  <a:schemeClr val="tx1"/>
                </a:solidFill>
                <a:effectLst/>
              </a:rPr>
              <a:t>: The URL of the PDF to download.</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err="1">
                <a:ln>
                  <a:noFill/>
                </a:ln>
                <a:solidFill>
                  <a:schemeClr val="tx1"/>
                </a:solidFill>
                <a:effectLst/>
                <a:latin typeface="Arial Unicode MS"/>
              </a:rPr>
              <a:t>save_path</a:t>
            </a:r>
            <a:r>
              <a:rPr kumimoji="0" lang="en-US" altLang="en-US" sz="1300" b="0" i="0" u="none" strike="noStrike" cap="none" normalizeH="0" baseline="0" dirty="0">
                <a:ln>
                  <a:noFill/>
                </a:ln>
                <a:solidFill>
                  <a:schemeClr val="tx1"/>
                </a:solidFill>
                <a:effectLst/>
              </a:rPr>
              <a:t>: The local path where the PDF will be saved.</a:t>
            </a:r>
          </a:p>
          <a:p>
            <a:pPr marL="914400" marR="0" lvl="2" indent="0" defTabSz="914400" rtl="0" eaLnBrk="0" fontAlgn="base" latinLnBrk="0" hangingPunct="0">
              <a:lnSpc>
                <a:spcPct val="100000"/>
              </a:lnSpc>
              <a:spcBef>
                <a:spcPct val="0"/>
              </a:spcBef>
              <a:spcAft>
                <a:spcPct val="0"/>
              </a:spcAft>
              <a:buClrTx/>
              <a:buSzTx/>
              <a:buNone/>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1300" b="1" i="0" u="none" strike="noStrike" cap="none" normalizeH="0" baseline="0" dirty="0" err="1">
                <a:ln>
                  <a:noFill/>
                </a:ln>
                <a:solidFill>
                  <a:schemeClr val="tx1"/>
                </a:solidFill>
                <a:effectLst/>
                <a:latin typeface="Arial Unicode MS"/>
              </a:rPr>
              <a:t>search_for_count</a:t>
            </a:r>
            <a:r>
              <a:rPr kumimoji="0" lang="en-US" altLang="en-US" sz="1300" b="1" i="0" u="none" strike="noStrike" cap="none" normalizeH="0" baseline="0" dirty="0">
                <a:ln>
                  <a:noFill/>
                </a:ln>
                <a:solidFill>
                  <a:schemeClr val="tx1"/>
                </a:solidFill>
                <a:effectLst/>
                <a:latin typeface="Arial Unicode MS"/>
              </a:rPr>
              <a:t>(</a:t>
            </a:r>
            <a:r>
              <a:rPr kumimoji="0" lang="en-US" altLang="en-US" sz="1300" b="1" i="0" u="none" strike="noStrike" cap="none" normalizeH="0" baseline="0" dirty="0" err="1">
                <a:ln>
                  <a:noFill/>
                </a:ln>
                <a:solidFill>
                  <a:schemeClr val="tx1"/>
                </a:solidFill>
                <a:effectLst/>
                <a:latin typeface="Arial Unicode MS"/>
              </a:rPr>
              <a:t>file_path</a:t>
            </a:r>
            <a:r>
              <a:rPr kumimoji="0" lang="en-US" altLang="en-US" sz="1300" b="1" i="0" u="none" strike="noStrike" cap="none" normalizeH="0" baseline="0" dirty="0">
                <a:ln>
                  <a:noFill/>
                </a:ln>
                <a:solidFill>
                  <a:schemeClr val="tx1"/>
                </a:solidFill>
                <a:effectLst/>
                <a:latin typeface="Arial Unicode MS"/>
              </a:rPr>
              <a:t>, keyword)</a:t>
            </a:r>
            <a:r>
              <a:rPr kumimoji="0" lang="en-US" altLang="en-US" sz="1300" b="0" i="0" u="none" strike="noStrike" cap="none" normalizeH="0" baseline="0" dirty="0">
                <a:ln>
                  <a:noFill/>
                </a:ln>
                <a:solidFill>
                  <a:schemeClr val="tx1"/>
                </a:solidFill>
                <a:effectLst/>
              </a:rPr>
              <a:t>:</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Searches the specified PDF file for a keyword and extracts counts associated with it.</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chemeClr val="tx1"/>
                </a:solidFill>
                <a:effectLst/>
                <a:latin typeface="Arial" panose="020B0604020202020204" pitchFamily="34" charset="0"/>
              </a:rPr>
              <a:t>Parameters</a:t>
            </a:r>
            <a:r>
              <a:rPr kumimoji="0" lang="en-US" altLang="en-US" sz="1300" b="0" i="0" u="none" strike="noStrike" cap="none" normalizeH="0" baseline="0" dirty="0">
                <a:ln>
                  <a:noFill/>
                </a:ln>
                <a:solidFill>
                  <a:schemeClr val="tx1"/>
                </a:solidFill>
                <a:effectLst/>
                <a:latin typeface="Arial" panose="020B0604020202020204" pitchFamily="34" charset="0"/>
              </a:rPr>
              <a:t>:</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err="1">
                <a:ln>
                  <a:noFill/>
                </a:ln>
                <a:solidFill>
                  <a:schemeClr val="tx1"/>
                </a:solidFill>
                <a:effectLst/>
                <a:latin typeface="Arial Unicode MS"/>
              </a:rPr>
              <a:t>file_path</a:t>
            </a:r>
            <a:r>
              <a:rPr kumimoji="0" lang="en-US" altLang="en-US" sz="1300" b="0" i="0" u="none" strike="noStrike" cap="none" normalizeH="0" baseline="0" dirty="0">
                <a:ln>
                  <a:noFill/>
                </a:ln>
                <a:solidFill>
                  <a:schemeClr val="tx1"/>
                </a:solidFill>
                <a:effectLst/>
              </a:rPr>
              <a:t>: The path of the PDF file to search.</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Arial Unicode MS"/>
              </a:rPr>
              <a:t>keyword</a:t>
            </a:r>
            <a:r>
              <a:rPr kumimoji="0" lang="en-US" altLang="en-US" sz="1300" b="0" i="0" u="none" strike="noStrike" cap="none" normalizeH="0" baseline="0" dirty="0">
                <a:ln>
                  <a:noFill/>
                </a:ln>
                <a:solidFill>
                  <a:schemeClr val="tx1"/>
                </a:solidFill>
                <a:effectLst/>
              </a:rPr>
              <a:t>: The term to search for in the document.</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chemeClr val="tx1"/>
                </a:solidFill>
                <a:effectLst/>
                <a:latin typeface="Arial" panose="020B0604020202020204" pitchFamily="34" charset="0"/>
              </a:rPr>
              <a:t>Returns</a:t>
            </a:r>
            <a:r>
              <a:rPr kumimoji="0" lang="en-US" altLang="en-US" sz="1300" b="0" i="0" u="none" strike="noStrike" cap="none" normalizeH="0" baseline="0" dirty="0">
                <a:ln>
                  <a:noFill/>
                </a:ln>
                <a:solidFill>
                  <a:schemeClr val="tx1"/>
                </a:solidFill>
                <a:effectLst/>
                <a:latin typeface="Arial" panose="020B0604020202020204" pitchFamily="34" charset="0"/>
              </a:rPr>
              <a:t>: A list of dictionaries containing the page number, count found, and the context of the match.</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rPr>
              <a:t>Regex Pattern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chemeClr val="tx1"/>
                </a:solidFill>
                <a:effectLst/>
                <a:latin typeface="Arial" panose="020B0604020202020204" pitchFamily="34" charset="0"/>
              </a:rPr>
              <a:t>Pattern Used</a:t>
            </a:r>
            <a:r>
              <a:rPr kumimoji="0" lang="en-US" altLang="en-US" sz="1300" b="0" i="0" u="none" strike="noStrike" cap="none" normalizeH="0" baseline="0" dirty="0">
                <a:ln>
                  <a:noFill/>
                </a:ln>
                <a:solidFill>
                  <a:schemeClr val="tx1"/>
                </a:solidFill>
                <a:effectLst/>
                <a:latin typeface="Arial" panose="020B0604020202020204" pitchFamily="34" charset="0"/>
              </a:rPr>
              <a:t>: </a:t>
            </a:r>
            <a:r>
              <a:rPr kumimoji="0" lang="en-US" altLang="en-US" sz="1300" b="0" i="0" u="none" strike="noStrike" cap="none" normalizeH="0" baseline="0" dirty="0">
                <a:ln>
                  <a:noFill/>
                </a:ln>
                <a:solidFill>
                  <a:schemeClr val="tx1"/>
                </a:solidFill>
                <a:effectLst/>
                <a:latin typeface="Arial Unicode MS"/>
              </a:rPr>
              <a:t>rf"{keyword}\s+(\d{{1,3}}(?:,\d{{3}})*)"</a:t>
            </a:r>
            <a:endParaRPr kumimoji="0" lang="en-US" altLang="en-US" sz="13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5DA8FF5-6068-3553-BDBA-4CA2EB5CB060}"/>
              </a:ext>
            </a:extLst>
          </p:cNvPr>
          <p:cNvSpPr txBox="1"/>
          <p:nvPr/>
        </p:nvSpPr>
        <p:spPr>
          <a:xfrm>
            <a:off x="5605273" y="6379576"/>
            <a:ext cx="685800" cy="369332"/>
          </a:xfrm>
          <a:prstGeom prst="rect">
            <a:avLst/>
          </a:prstGeom>
          <a:noFill/>
        </p:spPr>
        <p:txBody>
          <a:bodyPr wrap="square" rtlCol="0">
            <a:spAutoFit/>
          </a:bodyPr>
          <a:lstStyle/>
          <a:p>
            <a:pPr algn="ctr"/>
            <a:r>
              <a:rPr lang="en-US" dirty="0"/>
              <a:t>6</a:t>
            </a:r>
          </a:p>
        </p:txBody>
      </p:sp>
    </p:spTree>
    <p:extLst>
      <p:ext uri="{BB962C8B-B14F-4D97-AF65-F5344CB8AC3E}">
        <p14:creationId xmlns:p14="http://schemas.microsoft.com/office/powerpoint/2010/main" val="354395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ACF1C-AD17-18F6-8CCE-D97D6BD5CF5C}"/>
              </a:ext>
            </a:extLst>
          </p:cNvPr>
          <p:cNvSpPr>
            <a:spLocks noGrp="1"/>
          </p:cNvSpPr>
          <p:nvPr>
            <p:ph type="title"/>
          </p:nvPr>
        </p:nvSpPr>
        <p:spPr/>
        <p:txBody>
          <a:bodyPr>
            <a:normAutofit fontScale="90000"/>
          </a:bodyPr>
          <a:lstStyle/>
          <a:p>
            <a:r>
              <a:rPr lang="en-US" b="1" dirty="0"/>
              <a:t>Standardizing  and Transforming             the Data Set</a:t>
            </a:r>
          </a:p>
        </p:txBody>
      </p:sp>
      <p:pic>
        <p:nvPicPr>
          <p:cNvPr id="5" name="Content Placeholder 4">
            <a:extLst>
              <a:ext uri="{FF2B5EF4-FFF2-40B4-BE49-F238E27FC236}">
                <a16:creationId xmlns:a16="http://schemas.microsoft.com/office/drawing/2014/main" id="{82C9C6FD-A857-F9DC-A937-4C69FAF1E811}"/>
              </a:ext>
            </a:extLst>
          </p:cNvPr>
          <p:cNvPicPr>
            <a:picLocks noGrp="1" noChangeAspect="1"/>
          </p:cNvPicPr>
          <p:nvPr>
            <p:ph idx="1"/>
          </p:nvPr>
        </p:nvPicPr>
        <p:blipFill>
          <a:blip r:embed="rId2"/>
          <a:stretch>
            <a:fillRect/>
          </a:stretch>
        </p:blipFill>
        <p:spPr>
          <a:xfrm>
            <a:off x="467460" y="1688113"/>
            <a:ext cx="7008182" cy="2597560"/>
          </a:xfrm>
        </p:spPr>
      </p:pic>
      <p:sp>
        <p:nvSpPr>
          <p:cNvPr id="6" name="TextBox 5">
            <a:extLst>
              <a:ext uri="{FF2B5EF4-FFF2-40B4-BE49-F238E27FC236}">
                <a16:creationId xmlns:a16="http://schemas.microsoft.com/office/drawing/2014/main" id="{DF18A4CC-D820-D438-39E3-97A6982F25EA}"/>
              </a:ext>
            </a:extLst>
          </p:cNvPr>
          <p:cNvSpPr txBox="1"/>
          <p:nvPr/>
        </p:nvSpPr>
        <p:spPr>
          <a:xfrm>
            <a:off x="7786256" y="2202063"/>
            <a:ext cx="4294908" cy="1569660"/>
          </a:xfrm>
          <a:prstGeom prst="rect">
            <a:avLst/>
          </a:prstGeom>
          <a:noFill/>
        </p:spPr>
        <p:txBody>
          <a:bodyPr wrap="square" rtlCol="0">
            <a:spAutoFit/>
          </a:bodyPr>
          <a:lstStyle/>
          <a:p>
            <a:r>
              <a:rPr lang="en-US" sz="2400" b="1" dirty="0"/>
              <a:t>Using the population column in the data set to calculate the Rate per 100k  values for the diseases and health outcomes.</a:t>
            </a:r>
          </a:p>
        </p:txBody>
      </p:sp>
      <p:sp>
        <p:nvSpPr>
          <p:cNvPr id="7" name="Content Placeholder 2">
            <a:extLst>
              <a:ext uri="{FF2B5EF4-FFF2-40B4-BE49-F238E27FC236}">
                <a16:creationId xmlns:a16="http://schemas.microsoft.com/office/drawing/2014/main" id="{5FB0041B-D04D-C883-4782-2BDA82417E31}"/>
              </a:ext>
            </a:extLst>
          </p:cNvPr>
          <p:cNvSpPr txBox="1">
            <a:spLocks/>
          </p:cNvSpPr>
          <p:nvPr/>
        </p:nvSpPr>
        <p:spPr>
          <a:xfrm>
            <a:off x="838200" y="4434601"/>
            <a:ext cx="10515600" cy="17816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Changed the “Preempted” column inputs to 1 for ‘X’ and 0 for NULL.</a:t>
            </a:r>
          </a:p>
          <a:p>
            <a:r>
              <a:rPr lang="en-US" dirty="0"/>
              <a:t>Transformed the “</a:t>
            </a:r>
            <a:r>
              <a:rPr lang="en-US" dirty="0">
                <a:solidFill>
                  <a:srgbClr val="000000"/>
                </a:solidFill>
              </a:rPr>
              <a:t>Compared to Federal Wage</a:t>
            </a:r>
            <a:r>
              <a:rPr lang="en-US" dirty="0"/>
              <a:t>” into “</a:t>
            </a:r>
            <a:r>
              <a:rPr lang="en-US" dirty="0">
                <a:solidFill>
                  <a:srgbClr val="000000"/>
                </a:solidFill>
              </a:rPr>
              <a:t>State vs Federal Wage perc diff</a:t>
            </a:r>
            <a:r>
              <a:rPr lang="en-US" dirty="0"/>
              <a:t>”, where the percentage difference is calculated between the State Minimum Wage and Federal Minimum Wage.</a:t>
            </a:r>
          </a:p>
        </p:txBody>
      </p:sp>
      <p:sp>
        <p:nvSpPr>
          <p:cNvPr id="3" name="TextBox 2">
            <a:extLst>
              <a:ext uri="{FF2B5EF4-FFF2-40B4-BE49-F238E27FC236}">
                <a16:creationId xmlns:a16="http://schemas.microsoft.com/office/drawing/2014/main" id="{0503BA9E-1B2C-5131-E897-EDAEC1677D66}"/>
              </a:ext>
            </a:extLst>
          </p:cNvPr>
          <p:cNvSpPr txBox="1"/>
          <p:nvPr/>
        </p:nvSpPr>
        <p:spPr>
          <a:xfrm>
            <a:off x="5605273" y="6379576"/>
            <a:ext cx="685800" cy="369332"/>
          </a:xfrm>
          <a:prstGeom prst="rect">
            <a:avLst/>
          </a:prstGeom>
          <a:noFill/>
        </p:spPr>
        <p:txBody>
          <a:bodyPr wrap="square" rtlCol="0">
            <a:spAutoFit/>
          </a:bodyPr>
          <a:lstStyle/>
          <a:p>
            <a:pPr algn="ctr"/>
            <a:r>
              <a:rPr lang="en-US" dirty="0"/>
              <a:t>7</a:t>
            </a:r>
          </a:p>
        </p:txBody>
      </p:sp>
    </p:spTree>
    <p:extLst>
      <p:ext uri="{BB962C8B-B14F-4D97-AF65-F5344CB8AC3E}">
        <p14:creationId xmlns:p14="http://schemas.microsoft.com/office/powerpoint/2010/main" val="886474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F2CC-2CD6-8BE7-1EAD-0CC9D7DB351E}"/>
              </a:ext>
            </a:extLst>
          </p:cNvPr>
          <p:cNvSpPr>
            <a:spLocks noGrp="1"/>
          </p:cNvSpPr>
          <p:nvPr>
            <p:ph type="title"/>
          </p:nvPr>
        </p:nvSpPr>
        <p:spPr/>
        <p:txBody>
          <a:bodyPr/>
          <a:lstStyle/>
          <a:p>
            <a:r>
              <a:rPr lang="en-US" b="1" dirty="0"/>
              <a:t>Standardized Data Set…</a:t>
            </a:r>
          </a:p>
        </p:txBody>
      </p:sp>
      <p:sp>
        <p:nvSpPr>
          <p:cNvPr id="3" name="Content Placeholder 2">
            <a:extLst>
              <a:ext uri="{FF2B5EF4-FFF2-40B4-BE49-F238E27FC236}">
                <a16:creationId xmlns:a16="http://schemas.microsoft.com/office/drawing/2014/main" id="{18F36587-85B8-A73F-0C44-8CA3FDC85C7E}"/>
              </a:ext>
            </a:extLst>
          </p:cNvPr>
          <p:cNvSpPr>
            <a:spLocks noGrp="1"/>
          </p:cNvSpPr>
          <p:nvPr>
            <p:ph idx="1"/>
          </p:nvPr>
        </p:nvSpPr>
        <p:spPr/>
        <p:txBody>
          <a:bodyPr/>
          <a:lstStyle/>
          <a:p>
            <a:r>
              <a:rPr lang="en-US" b="1" u="sng" dirty="0"/>
              <a:t>Features (Columns) </a:t>
            </a:r>
            <a:r>
              <a:rPr lang="en-US" b="1" dirty="0"/>
              <a:t>:</a:t>
            </a:r>
            <a:r>
              <a:rPr lang="en-US" sz="2800" i="0" u="none" strike="noStrike" dirty="0">
                <a:solidFill>
                  <a:srgbClr val="000000"/>
                </a:solidFill>
                <a:effectLst/>
              </a:rPr>
              <a:t>States,</a:t>
            </a:r>
            <a:r>
              <a:rPr lang="en-US" sz="2800" dirty="0"/>
              <a:t> </a:t>
            </a:r>
            <a:r>
              <a:rPr lang="en-US" sz="2800" i="0" u="none" strike="noStrike" dirty="0">
                <a:solidFill>
                  <a:srgbClr val="000000"/>
                </a:solidFill>
                <a:effectLst/>
              </a:rPr>
              <a:t>Preempted,</a:t>
            </a:r>
            <a:r>
              <a:rPr lang="en-US" sz="2800" dirty="0"/>
              <a:t> </a:t>
            </a:r>
            <a:r>
              <a:rPr lang="en-US" sz="2800" i="0" u="none" strike="noStrike" dirty="0">
                <a:solidFill>
                  <a:srgbClr val="000000"/>
                </a:solidFill>
                <a:effectLst/>
              </a:rPr>
              <a:t>Years,</a:t>
            </a:r>
            <a:r>
              <a:rPr lang="en-US" sz="2800" dirty="0"/>
              <a:t> </a:t>
            </a:r>
            <a:r>
              <a:rPr lang="en-US" sz="2800" i="0" u="none" strike="noStrike" dirty="0">
                <a:solidFill>
                  <a:srgbClr val="000000"/>
                </a:solidFill>
                <a:effectLst/>
              </a:rPr>
              <a:t>Years Ordered,</a:t>
            </a:r>
            <a:r>
              <a:rPr lang="en-US" sz="2800" dirty="0"/>
              <a:t> </a:t>
            </a:r>
            <a:r>
              <a:rPr lang="en-US" sz="2800" i="0" u="none" strike="noStrike" dirty="0">
                <a:solidFill>
                  <a:srgbClr val="000000"/>
                </a:solidFill>
                <a:effectLst/>
              </a:rPr>
              <a:t>Population,</a:t>
            </a:r>
            <a:r>
              <a:rPr lang="en-US" sz="2800" dirty="0"/>
              <a:t> </a:t>
            </a:r>
            <a:r>
              <a:rPr lang="en-US" sz="2800" i="0" u="none" strike="noStrike" dirty="0">
                <a:solidFill>
                  <a:srgbClr val="000000"/>
                </a:solidFill>
                <a:effectLst/>
              </a:rPr>
              <a:t>Alzheimer Rate per 100k,</a:t>
            </a:r>
            <a:r>
              <a:rPr lang="en-US" sz="2800" dirty="0"/>
              <a:t> </a:t>
            </a:r>
            <a:r>
              <a:rPr lang="en-US" sz="2800" i="0" u="none" strike="noStrike" dirty="0">
                <a:solidFill>
                  <a:srgbClr val="000000"/>
                </a:solidFill>
                <a:effectLst/>
              </a:rPr>
              <a:t>Cardiovascular Disease Rate per 100k,</a:t>
            </a:r>
            <a:r>
              <a:rPr lang="en-US" sz="2800" dirty="0"/>
              <a:t> </a:t>
            </a:r>
            <a:r>
              <a:rPr lang="en-US" sz="2800" i="0" u="none" strike="noStrike" dirty="0">
                <a:solidFill>
                  <a:srgbClr val="000000"/>
                </a:solidFill>
                <a:effectLst/>
              </a:rPr>
              <a:t>Respiratory Diseases Rate per 100k, </a:t>
            </a:r>
            <a:r>
              <a:rPr lang="en-US" sz="2800" dirty="0"/>
              <a:t> </a:t>
            </a:r>
            <a:r>
              <a:rPr lang="en-US" sz="2800" i="0" u="none" strike="noStrike" dirty="0">
                <a:solidFill>
                  <a:srgbClr val="000000"/>
                </a:solidFill>
                <a:effectLst/>
              </a:rPr>
              <a:t>Cancer Rate per 100k,</a:t>
            </a:r>
            <a:r>
              <a:rPr lang="en-US" sz="2800" dirty="0"/>
              <a:t> </a:t>
            </a:r>
            <a:r>
              <a:rPr lang="en-US" sz="2800" i="0" u="none" strike="noStrike" dirty="0">
                <a:solidFill>
                  <a:srgbClr val="000000"/>
                </a:solidFill>
                <a:effectLst/>
              </a:rPr>
              <a:t>Diabetes Rate per 100k,</a:t>
            </a:r>
            <a:r>
              <a:rPr lang="en-US" sz="2800" dirty="0"/>
              <a:t> </a:t>
            </a:r>
            <a:r>
              <a:rPr lang="en-US" sz="2800" i="0" u="none" strike="noStrike" dirty="0">
                <a:solidFill>
                  <a:srgbClr val="000000"/>
                </a:solidFill>
                <a:effectLst/>
              </a:rPr>
              <a:t>Kidney Disease Rate per 100k,</a:t>
            </a:r>
            <a:r>
              <a:rPr lang="en-US" sz="2800" dirty="0"/>
              <a:t> </a:t>
            </a:r>
            <a:r>
              <a:rPr lang="en-US" sz="2800" i="0" u="none" strike="noStrike" dirty="0">
                <a:solidFill>
                  <a:srgbClr val="000000"/>
                </a:solidFill>
                <a:effectLst/>
              </a:rPr>
              <a:t>Suicide Rate per 100k, </a:t>
            </a:r>
            <a:r>
              <a:rPr lang="en-US" sz="2800" dirty="0"/>
              <a:t> </a:t>
            </a:r>
            <a:r>
              <a:rPr lang="en-US" sz="2800" i="0" u="none" strike="noStrike" dirty="0">
                <a:solidFill>
                  <a:srgbClr val="000000"/>
                </a:solidFill>
                <a:effectLst/>
              </a:rPr>
              <a:t>HIV Rate per 100k,</a:t>
            </a:r>
            <a:r>
              <a:rPr lang="en-US" sz="2800" dirty="0"/>
              <a:t> </a:t>
            </a:r>
            <a:r>
              <a:rPr lang="en-US" sz="2800" i="0" u="none" strike="noStrike" dirty="0">
                <a:solidFill>
                  <a:srgbClr val="000000"/>
                </a:solidFill>
                <a:effectLst/>
              </a:rPr>
              <a:t>Firearm Mortality Rate per 100k,</a:t>
            </a:r>
            <a:r>
              <a:rPr lang="en-US" sz="2800" dirty="0"/>
              <a:t> </a:t>
            </a:r>
            <a:r>
              <a:rPr lang="en-US" sz="2800" i="0" u="none" strike="noStrike" dirty="0">
                <a:solidFill>
                  <a:srgbClr val="000000"/>
                </a:solidFill>
                <a:effectLst/>
              </a:rPr>
              <a:t>Violent Crime Mortality Rate per 100k,</a:t>
            </a:r>
            <a:r>
              <a:rPr lang="en-US" sz="2800" dirty="0"/>
              <a:t> </a:t>
            </a:r>
            <a:r>
              <a:rPr lang="en-US" sz="2800" i="0" u="none" strike="noStrike" dirty="0">
                <a:solidFill>
                  <a:srgbClr val="000000"/>
                </a:solidFill>
                <a:effectLst/>
              </a:rPr>
              <a:t>Drug Deaths Rate per 100k,</a:t>
            </a:r>
            <a:r>
              <a:rPr lang="en-US" sz="2800" dirty="0"/>
              <a:t> </a:t>
            </a:r>
            <a:r>
              <a:rPr lang="en-US" sz="2800" i="0" u="none" strike="noStrike" dirty="0">
                <a:solidFill>
                  <a:srgbClr val="000000"/>
                </a:solidFill>
                <a:effectLst/>
              </a:rPr>
              <a:t>Obesity Rate per 100k,</a:t>
            </a:r>
            <a:r>
              <a:rPr lang="en-US" sz="2800" dirty="0"/>
              <a:t> </a:t>
            </a:r>
            <a:r>
              <a:rPr lang="en-US" sz="2800" i="0" u="none" strike="noStrike" dirty="0">
                <a:solidFill>
                  <a:srgbClr val="000000"/>
                </a:solidFill>
                <a:effectLst/>
              </a:rPr>
              <a:t>Infant Mortality Rate,</a:t>
            </a:r>
            <a:r>
              <a:rPr lang="en-US" sz="2800" dirty="0"/>
              <a:t> </a:t>
            </a:r>
            <a:r>
              <a:rPr lang="en-US" sz="2800" i="0" u="none" strike="noStrike" dirty="0">
                <a:solidFill>
                  <a:srgbClr val="000000"/>
                </a:solidFill>
                <a:effectLst/>
              </a:rPr>
              <a:t>White perc,</a:t>
            </a:r>
            <a:r>
              <a:rPr lang="en-US" sz="2800" dirty="0"/>
              <a:t> </a:t>
            </a:r>
            <a:r>
              <a:rPr lang="en-US" sz="2800" i="0" u="none" strike="noStrike" dirty="0">
                <a:solidFill>
                  <a:srgbClr val="000000"/>
                </a:solidFill>
                <a:effectLst/>
              </a:rPr>
              <a:t>Black perc,</a:t>
            </a:r>
            <a:r>
              <a:rPr lang="en-US" sz="2800" dirty="0"/>
              <a:t> </a:t>
            </a:r>
            <a:r>
              <a:rPr lang="en-US" sz="2800" i="0" u="none" strike="noStrike" dirty="0">
                <a:solidFill>
                  <a:srgbClr val="000000"/>
                </a:solidFill>
                <a:effectLst/>
              </a:rPr>
              <a:t>Care Avoided due to Cost perc,</a:t>
            </a:r>
            <a:r>
              <a:rPr lang="en-US" sz="2800" dirty="0"/>
              <a:t> </a:t>
            </a:r>
            <a:r>
              <a:rPr lang="en-US" sz="2800" i="0" u="none" strike="noStrike" dirty="0">
                <a:solidFill>
                  <a:srgbClr val="000000"/>
                </a:solidFill>
                <a:effectLst/>
              </a:rPr>
              <a:t>Median Income, </a:t>
            </a:r>
            <a:r>
              <a:rPr lang="en-US" sz="2800" dirty="0"/>
              <a:t> </a:t>
            </a:r>
            <a:r>
              <a:rPr lang="en-US" sz="2800" i="0" u="none" strike="noStrike" dirty="0">
                <a:solidFill>
                  <a:srgbClr val="000000"/>
                </a:solidFill>
                <a:effectLst/>
              </a:rPr>
              <a:t>Income inequality,</a:t>
            </a:r>
            <a:r>
              <a:rPr lang="en-US" sz="2800" dirty="0"/>
              <a:t> </a:t>
            </a:r>
            <a:r>
              <a:rPr lang="en-US" sz="2800" i="0" u="none" strike="noStrike" dirty="0">
                <a:solidFill>
                  <a:srgbClr val="000000"/>
                </a:solidFill>
                <a:effectLst/>
              </a:rPr>
              <a:t>Housing Insecurity,</a:t>
            </a:r>
            <a:r>
              <a:rPr lang="en-US" sz="2800" dirty="0"/>
              <a:t> </a:t>
            </a:r>
            <a:r>
              <a:rPr lang="en-US" sz="2800" i="0" u="none" strike="noStrike" dirty="0">
                <a:solidFill>
                  <a:srgbClr val="000000"/>
                </a:solidFill>
                <a:effectLst/>
              </a:rPr>
              <a:t>Cost of Living Index,</a:t>
            </a:r>
            <a:r>
              <a:rPr lang="en-US" sz="2800" dirty="0"/>
              <a:t> </a:t>
            </a:r>
            <a:r>
              <a:rPr lang="en-US" sz="2800" i="0" u="none" strike="noStrike" dirty="0">
                <a:solidFill>
                  <a:srgbClr val="000000"/>
                </a:solidFill>
                <a:effectLst/>
              </a:rPr>
              <a:t>Child Mortality Rate per 100k,</a:t>
            </a:r>
            <a:r>
              <a:rPr lang="en-US" sz="2800" dirty="0"/>
              <a:t> </a:t>
            </a:r>
            <a:r>
              <a:rPr lang="en-US" sz="2800" i="0" u="none" strike="noStrike" dirty="0">
                <a:solidFill>
                  <a:srgbClr val="000000"/>
                </a:solidFill>
                <a:effectLst/>
              </a:rPr>
              <a:t>Food Insecurity Perc,</a:t>
            </a:r>
            <a:r>
              <a:rPr lang="en-US" sz="2800" dirty="0"/>
              <a:t> </a:t>
            </a:r>
            <a:r>
              <a:rPr lang="en-US" sz="2800" i="0" u="none" strike="noStrike" dirty="0">
                <a:solidFill>
                  <a:srgbClr val="000000"/>
                </a:solidFill>
                <a:effectLst/>
              </a:rPr>
              <a:t>Current State Min Wage,</a:t>
            </a:r>
            <a:r>
              <a:rPr lang="en-US" sz="2800" dirty="0"/>
              <a:t> </a:t>
            </a:r>
            <a:r>
              <a:rPr lang="en-US" sz="2800" i="0" u="none" strike="noStrike" dirty="0">
                <a:solidFill>
                  <a:srgbClr val="000000"/>
                </a:solidFill>
                <a:effectLst/>
              </a:rPr>
              <a:t>State vs Federal Wage perc diff,</a:t>
            </a:r>
            <a:r>
              <a:rPr lang="en-US" sz="2800" dirty="0"/>
              <a:t> </a:t>
            </a:r>
            <a:r>
              <a:rPr lang="en-US" sz="2800" i="0" u="none" strike="noStrike" dirty="0">
                <a:solidFill>
                  <a:srgbClr val="000000"/>
                </a:solidFill>
                <a:effectLst/>
              </a:rPr>
              <a:t>Annual Avg Temp </a:t>
            </a:r>
          </a:p>
          <a:p>
            <a:endParaRPr lang="en-US" dirty="0"/>
          </a:p>
        </p:txBody>
      </p:sp>
      <p:sp>
        <p:nvSpPr>
          <p:cNvPr id="4" name="TextBox 3">
            <a:extLst>
              <a:ext uri="{FF2B5EF4-FFF2-40B4-BE49-F238E27FC236}">
                <a16:creationId xmlns:a16="http://schemas.microsoft.com/office/drawing/2014/main" id="{B64221A8-0C89-552C-1AAB-725E39D1F8FA}"/>
              </a:ext>
            </a:extLst>
          </p:cNvPr>
          <p:cNvSpPr txBox="1"/>
          <p:nvPr/>
        </p:nvSpPr>
        <p:spPr>
          <a:xfrm>
            <a:off x="5605273" y="6379576"/>
            <a:ext cx="685800" cy="369332"/>
          </a:xfrm>
          <a:prstGeom prst="rect">
            <a:avLst/>
          </a:prstGeom>
          <a:noFill/>
        </p:spPr>
        <p:txBody>
          <a:bodyPr wrap="square" rtlCol="0">
            <a:spAutoFit/>
          </a:bodyPr>
          <a:lstStyle/>
          <a:p>
            <a:pPr algn="ctr"/>
            <a:r>
              <a:rPr lang="en-US" dirty="0"/>
              <a:t>8</a:t>
            </a:r>
          </a:p>
        </p:txBody>
      </p:sp>
    </p:spTree>
    <p:extLst>
      <p:ext uri="{BB962C8B-B14F-4D97-AF65-F5344CB8AC3E}">
        <p14:creationId xmlns:p14="http://schemas.microsoft.com/office/powerpoint/2010/main" val="363718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21B2F-6198-AD1A-930A-DCD5CD4BE399}"/>
              </a:ext>
            </a:extLst>
          </p:cNvPr>
          <p:cNvSpPr>
            <a:spLocks noGrp="1"/>
          </p:cNvSpPr>
          <p:nvPr>
            <p:ph type="title"/>
          </p:nvPr>
        </p:nvSpPr>
        <p:spPr/>
        <p:txBody>
          <a:bodyPr/>
          <a:lstStyle/>
          <a:p>
            <a:r>
              <a:rPr lang="en-US" b="1" dirty="0"/>
              <a:t>Project Approach…</a:t>
            </a:r>
          </a:p>
        </p:txBody>
      </p:sp>
      <p:sp>
        <p:nvSpPr>
          <p:cNvPr id="3" name="Content Placeholder 2">
            <a:extLst>
              <a:ext uri="{FF2B5EF4-FFF2-40B4-BE49-F238E27FC236}">
                <a16:creationId xmlns:a16="http://schemas.microsoft.com/office/drawing/2014/main" id="{2B8F48C1-60DC-1781-FAE7-5434E3EEA4E2}"/>
              </a:ext>
            </a:extLst>
          </p:cNvPr>
          <p:cNvSpPr>
            <a:spLocks noGrp="1"/>
          </p:cNvSpPr>
          <p:nvPr>
            <p:ph idx="1"/>
          </p:nvPr>
        </p:nvSpPr>
        <p:spPr>
          <a:xfrm>
            <a:off x="838200" y="1825625"/>
            <a:ext cx="10802112" cy="4351338"/>
          </a:xfrm>
        </p:spPr>
        <p:txBody>
          <a:bodyPr>
            <a:normAutofit/>
          </a:bodyPr>
          <a:lstStyle/>
          <a:p>
            <a:pPr>
              <a:lnSpc>
                <a:spcPct val="60000"/>
              </a:lnSpc>
            </a:pPr>
            <a:r>
              <a:rPr lang="en-US" dirty="0"/>
              <a:t>5 Years of data Will be recorded for every feature and every state</a:t>
            </a:r>
          </a:p>
          <a:p>
            <a:pPr>
              <a:lnSpc>
                <a:spcPct val="60000"/>
              </a:lnSpc>
            </a:pPr>
            <a:endParaRPr lang="en-US" dirty="0"/>
          </a:p>
          <a:p>
            <a:pPr>
              <a:lnSpc>
                <a:spcPct val="60000"/>
              </a:lnSpc>
            </a:pPr>
            <a:r>
              <a:rPr lang="en-US" dirty="0"/>
              <a:t>Preempted Year – Median Year (3</a:t>
            </a:r>
            <a:r>
              <a:rPr lang="en-US" baseline="30000" dirty="0"/>
              <a:t>rd</a:t>
            </a:r>
            <a:r>
              <a:rPr lang="en-US" dirty="0"/>
              <a:t> Year)</a:t>
            </a:r>
          </a:p>
          <a:p>
            <a:pPr>
              <a:lnSpc>
                <a:spcPct val="60000"/>
              </a:lnSpc>
            </a:pPr>
            <a:endParaRPr lang="en-US" dirty="0"/>
          </a:p>
          <a:p>
            <a:pPr>
              <a:lnSpc>
                <a:spcPct val="60000"/>
              </a:lnSpc>
            </a:pPr>
            <a:r>
              <a:rPr lang="en-US" dirty="0"/>
              <a:t>States without Preemption – median year – 2008 (3</a:t>
            </a:r>
            <a:r>
              <a:rPr lang="en-US" baseline="30000" dirty="0"/>
              <a:t>rd</a:t>
            </a:r>
            <a:r>
              <a:rPr lang="en-US" dirty="0"/>
              <a:t> Year)</a:t>
            </a:r>
          </a:p>
          <a:p>
            <a:pPr>
              <a:lnSpc>
                <a:spcPct val="60000"/>
              </a:lnSpc>
            </a:pPr>
            <a:endParaRPr lang="en-US" dirty="0"/>
          </a:p>
          <a:p>
            <a:pPr>
              <a:lnSpc>
                <a:spcPct val="60000"/>
              </a:lnSpc>
            </a:pPr>
            <a:r>
              <a:rPr lang="en-US" dirty="0"/>
              <a:t>Analysis of the 5-year trend for all states</a:t>
            </a:r>
          </a:p>
          <a:p>
            <a:pPr marL="0" indent="0">
              <a:lnSpc>
                <a:spcPct val="60000"/>
              </a:lnSpc>
              <a:buNone/>
            </a:pPr>
            <a:endParaRPr lang="en-US" dirty="0"/>
          </a:p>
          <a:p>
            <a:pPr>
              <a:lnSpc>
                <a:spcPct val="60000"/>
              </a:lnSpc>
            </a:pPr>
            <a:r>
              <a:rPr lang="en-US" dirty="0"/>
              <a:t>Change in </a:t>
            </a:r>
            <a:r>
              <a:rPr lang="en-US" b="1" dirty="0"/>
              <a:t>Mortality rate, Economic</a:t>
            </a:r>
            <a:r>
              <a:rPr lang="en-US" dirty="0"/>
              <a:t> and </a:t>
            </a:r>
            <a:r>
              <a:rPr lang="en-US" b="1" dirty="0"/>
              <a:t>sociological</a:t>
            </a:r>
            <a:r>
              <a:rPr lang="en-US" dirty="0"/>
              <a:t> issues </a:t>
            </a:r>
          </a:p>
          <a:p>
            <a:pPr marL="0" indent="0">
              <a:lnSpc>
                <a:spcPct val="60000"/>
              </a:lnSpc>
              <a:buNone/>
            </a:pPr>
            <a:r>
              <a:rPr lang="en-US" dirty="0"/>
              <a:t>   will determine whether the </a:t>
            </a:r>
            <a:r>
              <a:rPr lang="en-US" b="1" dirty="0"/>
              <a:t>health outcomes have </a:t>
            </a:r>
          </a:p>
          <a:p>
            <a:pPr marL="0" indent="0">
              <a:lnSpc>
                <a:spcPct val="60000"/>
              </a:lnSpc>
              <a:buNone/>
            </a:pPr>
            <a:r>
              <a:rPr lang="en-US" b="1" dirty="0"/>
              <a:t>   improved or worsened</a:t>
            </a:r>
            <a:r>
              <a:rPr lang="en-US" dirty="0"/>
              <a:t>. </a:t>
            </a:r>
          </a:p>
          <a:p>
            <a:pPr marL="0" indent="0">
              <a:buNone/>
            </a:pPr>
            <a:endParaRPr lang="en-US" dirty="0"/>
          </a:p>
          <a:p>
            <a:endParaRPr lang="en-US" dirty="0"/>
          </a:p>
          <a:p>
            <a:endParaRPr lang="en-US" dirty="0"/>
          </a:p>
        </p:txBody>
      </p:sp>
      <p:sp>
        <p:nvSpPr>
          <p:cNvPr id="4" name="TextBox 3">
            <a:extLst>
              <a:ext uri="{FF2B5EF4-FFF2-40B4-BE49-F238E27FC236}">
                <a16:creationId xmlns:a16="http://schemas.microsoft.com/office/drawing/2014/main" id="{2C87FE9B-B346-7B24-6C7F-888E6C6BA5DD}"/>
              </a:ext>
            </a:extLst>
          </p:cNvPr>
          <p:cNvSpPr txBox="1"/>
          <p:nvPr/>
        </p:nvSpPr>
        <p:spPr>
          <a:xfrm>
            <a:off x="5605273" y="6379576"/>
            <a:ext cx="685800" cy="369332"/>
          </a:xfrm>
          <a:prstGeom prst="rect">
            <a:avLst/>
          </a:prstGeom>
          <a:noFill/>
        </p:spPr>
        <p:txBody>
          <a:bodyPr wrap="square" rtlCol="0">
            <a:spAutoFit/>
          </a:bodyPr>
          <a:lstStyle/>
          <a:p>
            <a:pPr algn="ctr"/>
            <a:r>
              <a:rPr lang="en-US" dirty="0"/>
              <a:t>9</a:t>
            </a:r>
          </a:p>
        </p:txBody>
      </p:sp>
    </p:spTree>
    <p:extLst>
      <p:ext uri="{BB962C8B-B14F-4D97-AF65-F5344CB8AC3E}">
        <p14:creationId xmlns:p14="http://schemas.microsoft.com/office/powerpoint/2010/main" val="557765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4E43-0830-DCFB-D02D-CFD299DAC8DC}"/>
              </a:ext>
            </a:extLst>
          </p:cNvPr>
          <p:cNvSpPr>
            <a:spLocks noGrp="1"/>
          </p:cNvSpPr>
          <p:nvPr>
            <p:ph type="title"/>
          </p:nvPr>
        </p:nvSpPr>
        <p:spPr/>
        <p:txBody>
          <a:bodyPr>
            <a:normAutofit/>
          </a:bodyPr>
          <a:lstStyle/>
          <a:p>
            <a:r>
              <a:rPr lang="en-US" b="1" dirty="0"/>
              <a:t>Analytics Models</a:t>
            </a:r>
            <a:endParaRPr lang="en-US" dirty="0"/>
          </a:p>
        </p:txBody>
      </p:sp>
      <p:sp>
        <p:nvSpPr>
          <p:cNvPr id="3" name="Content Placeholder 2">
            <a:extLst>
              <a:ext uri="{FF2B5EF4-FFF2-40B4-BE49-F238E27FC236}">
                <a16:creationId xmlns:a16="http://schemas.microsoft.com/office/drawing/2014/main" id="{D5760A93-D10E-7EDF-5131-CE741E1748FF}"/>
              </a:ext>
            </a:extLst>
          </p:cNvPr>
          <p:cNvSpPr>
            <a:spLocks noGrp="1"/>
          </p:cNvSpPr>
          <p:nvPr>
            <p:ph idx="1"/>
          </p:nvPr>
        </p:nvSpPr>
        <p:spPr>
          <a:xfrm>
            <a:off x="708891" y="1779443"/>
            <a:ext cx="10515600" cy="4351338"/>
          </a:xfrm>
        </p:spPr>
        <p:txBody>
          <a:bodyPr>
            <a:normAutofit fontScale="70000" lnSpcReduction="20000"/>
          </a:bodyPr>
          <a:lstStyle/>
          <a:p>
            <a:r>
              <a:rPr lang="en-US" dirty="0"/>
              <a:t>Correlations between health outcomes, preemption status and other factors e.g., racial composition, income levels, cost of living, etc.</a:t>
            </a:r>
          </a:p>
          <a:p>
            <a:endParaRPr lang="en-US" dirty="0"/>
          </a:p>
          <a:p>
            <a:r>
              <a:rPr lang="en-US" b="1" dirty="0"/>
              <a:t>Regression Analysis</a:t>
            </a:r>
            <a:r>
              <a:rPr lang="en-US" dirty="0"/>
              <a:t>: Model health outcomes, economic and housing insecurities as a function of preemption status and other relevant factors over the 5-year period.</a:t>
            </a:r>
          </a:p>
          <a:p>
            <a:endParaRPr lang="en-US" dirty="0"/>
          </a:p>
          <a:p>
            <a:r>
              <a:rPr lang="en-US" b="1" dirty="0"/>
              <a:t>LSTM prediction </a:t>
            </a:r>
            <a:r>
              <a:rPr lang="en-US" dirty="0"/>
              <a:t>and </a:t>
            </a:r>
            <a:r>
              <a:rPr lang="en-US" b="1" dirty="0"/>
              <a:t>Analysis (for Socio-economic Outcomes)</a:t>
            </a:r>
          </a:p>
          <a:p>
            <a:endParaRPr lang="en-US" dirty="0"/>
          </a:p>
          <a:p>
            <a:r>
              <a:rPr lang="en-US" dirty="0"/>
              <a:t>Significance Testing for Preemption Effects To determine if health outcomes and socio-economic variables significantly differ between preempted and non-preempted states.</a:t>
            </a:r>
          </a:p>
          <a:p>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Hypothesis 1</a:t>
            </a:r>
            <a:r>
              <a:rPr kumimoji="0" lang="en-US" altLang="en-US" sz="2200" b="0" i="0" u="none" strike="noStrike" cap="none" normalizeH="0" baseline="0" dirty="0">
                <a:ln>
                  <a:noFill/>
                </a:ln>
                <a:solidFill>
                  <a:schemeClr val="tx1"/>
                </a:solidFill>
                <a:effectLst/>
                <a:latin typeface="Arial" panose="020B0604020202020204" pitchFamily="34" charset="0"/>
              </a:rPr>
              <a:t>: Minimum wage preemption is associated with worse health outcomes (e.g., higher obesity, food insecurity, and infant mortality).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Hypothesis 2</a:t>
            </a:r>
            <a:r>
              <a:rPr kumimoji="0" lang="en-US" altLang="en-US" sz="2200" b="0" i="0" u="none" strike="noStrike" cap="none" normalizeH="0" baseline="0" dirty="0">
                <a:ln>
                  <a:noFill/>
                </a:ln>
                <a:solidFill>
                  <a:schemeClr val="tx1"/>
                </a:solidFill>
                <a:effectLst/>
                <a:latin typeface="Arial" panose="020B0604020202020204" pitchFamily="34" charset="0"/>
              </a:rPr>
              <a:t>: Socio-economic inequalities, like income inequality and housing insecurity, are more pronounced in preempted states. </a:t>
            </a:r>
          </a:p>
          <a:p>
            <a:endParaRPr lang="en-US" dirty="0"/>
          </a:p>
        </p:txBody>
      </p:sp>
      <p:sp>
        <p:nvSpPr>
          <p:cNvPr id="4" name="TextBox 3">
            <a:extLst>
              <a:ext uri="{FF2B5EF4-FFF2-40B4-BE49-F238E27FC236}">
                <a16:creationId xmlns:a16="http://schemas.microsoft.com/office/drawing/2014/main" id="{4AC7E056-4044-230C-1C2D-7EE1DE9C858C}"/>
              </a:ext>
            </a:extLst>
          </p:cNvPr>
          <p:cNvSpPr txBox="1"/>
          <p:nvPr/>
        </p:nvSpPr>
        <p:spPr>
          <a:xfrm>
            <a:off x="5605273" y="6379576"/>
            <a:ext cx="685800" cy="369332"/>
          </a:xfrm>
          <a:prstGeom prst="rect">
            <a:avLst/>
          </a:prstGeom>
          <a:noFill/>
        </p:spPr>
        <p:txBody>
          <a:bodyPr wrap="square" rtlCol="0">
            <a:spAutoFit/>
          </a:bodyPr>
          <a:lstStyle/>
          <a:p>
            <a:pPr algn="ctr"/>
            <a:r>
              <a:rPr lang="en-US" dirty="0"/>
              <a:t>10</a:t>
            </a:r>
          </a:p>
        </p:txBody>
      </p:sp>
    </p:spTree>
    <p:extLst>
      <p:ext uri="{BB962C8B-B14F-4D97-AF65-F5344CB8AC3E}">
        <p14:creationId xmlns:p14="http://schemas.microsoft.com/office/powerpoint/2010/main" val="282061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62FC0-C9DE-EB76-C711-DE93CDB0A76C}"/>
              </a:ext>
            </a:extLst>
          </p:cNvPr>
          <p:cNvSpPr>
            <a:spLocks noGrp="1"/>
          </p:cNvSpPr>
          <p:nvPr>
            <p:ph type="title"/>
          </p:nvPr>
        </p:nvSpPr>
        <p:spPr>
          <a:xfrm>
            <a:off x="2857500" y="301752"/>
            <a:ext cx="8503920" cy="960120"/>
          </a:xfrm>
        </p:spPr>
        <p:txBody>
          <a:bodyPr anchor="ctr">
            <a:normAutofit/>
          </a:bodyPr>
          <a:lstStyle/>
          <a:p>
            <a:r>
              <a:rPr lang="en-US" b="1" dirty="0"/>
              <a:t>Correlation matrix</a:t>
            </a:r>
          </a:p>
        </p:txBody>
      </p:sp>
      <p:pic>
        <p:nvPicPr>
          <p:cNvPr id="1026" name="Picture 2">
            <a:extLst>
              <a:ext uri="{FF2B5EF4-FFF2-40B4-BE49-F238E27FC236}">
                <a16:creationId xmlns:a16="http://schemas.microsoft.com/office/drawing/2014/main" id="{E78DD61D-CE48-EC94-29C4-2BBB9DB4497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320185" y="1295572"/>
            <a:ext cx="5493109" cy="5012463"/>
          </a:xfrm>
          <a:prstGeom prst="rect">
            <a:avLst/>
          </a:prstGeom>
          <a:solidFill>
            <a:srgbClr val="FFFFFF"/>
          </a:solidFill>
        </p:spPr>
      </p:pic>
      <p:sp>
        <p:nvSpPr>
          <p:cNvPr id="1031" name="Content Placeholder 3">
            <a:extLst>
              <a:ext uri="{FF2B5EF4-FFF2-40B4-BE49-F238E27FC236}">
                <a16:creationId xmlns:a16="http://schemas.microsoft.com/office/drawing/2014/main" id="{EC031E01-CBE8-27FF-98BF-8051C1910258}"/>
              </a:ext>
            </a:extLst>
          </p:cNvPr>
          <p:cNvSpPr>
            <a:spLocks noGrp="1"/>
          </p:cNvSpPr>
          <p:nvPr>
            <p:ph sz="half" idx="2"/>
          </p:nvPr>
        </p:nvSpPr>
        <p:spPr>
          <a:xfrm>
            <a:off x="6172200" y="1825625"/>
            <a:ext cx="5291488" cy="4351338"/>
          </a:xfrm>
        </p:spPr>
        <p:txBody>
          <a:bodyPr/>
          <a:lstStyle/>
          <a:p>
            <a:r>
              <a:rPr lang="en-US" dirty="0"/>
              <a:t>This shows us the correlation between different variables in the Data Set.</a:t>
            </a:r>
          </a:p>
          <a:p>
            <a:endParaRPr lang="en-US" dirty="0"/>
          </a:p>
          <a:p>
            <a:r>
              <a:rPr lang="en-US" dirty="0"/>
              <a:t>Correlation Coeff &gt; +0.5 (Positive Correlation)</a:t>
            </a:r>
          </a:p>
          <a:p>
            <a:endParaRPr lang="en-US" dirty="0"/>
          </a:p>
          <a:p>
            <a:r>
              <a:rPr lang="en-US" dirty="0"/>
              <a:t>Correlation Coeff &lt; -0.5 (Negative Correlation </a:t>
            </a:r>
          </a:p>
        </p:txBody>
      </p:sp>
      <p:sp>
        <p:nvSpPr>
          <p:cNvPr id="3" name="TextBox 2">
            <a:extLst>
              <a:ext uri="{FF2B5EF4-FFF2-40B4-BE49-F238E27FC236}">
                <a16:creationId xmlns:a16="http://schemas.microsoft.com/office/drawing/2014/main" id="{715070AE-E6D0-4A28-4598-A36DB5B7A6AD}"/>
              </a:ext>
            </a:extLst>
          </p:cNvPr>
          <p:cNvSpPr txBox="1"/>
          <p:nvPr/>
        </p:nvSpPr>
        <p:spPr>
          <a:xfrm>
            <a:off x="5605273" y="6379576"/>
            <a:ext cx="685800" cy="369332"/>
          </a:xfrm>
          <a:prstGeom prst="rect">
            <a:avLst/>
          </a:prstGeom>
          <a:noFill/>
        </p:spPr>
        <p:txBody>
          <a:bodyPr wrap="square" rtlCol="0">
            <a:spAutoFit/>
          </a:bodyPr>
          <a:lstStyle/>
          <a:p>
            <a:pPr algn="ctr"/>
            <a:r>
              <a:rPr lang="en-US" dirty="0"/>
              <a:t>11</a:t>
            </a:r>
          </a:p>
        </p:txBody>
      </p:sp>
    </p:spTree>
    <p:extLst>
      <p:ext uri="{BB962C8B-B14F-4D97-AF65-F5344CB8AC3E}">
        <p14:creationId xmlns:p14="http://schemas.microsoft.com/office/powerpoint/2010/main" val="999990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7EECD-EC49-7B07-7C76-AF97125EC936}"/>
              </a:ext>
            </a:extLst>
          </p:cNvPr>
          <p:cNvSpPr>
            <a:spLocks noGrp="1"/>
          </p:cNvSpPr>
          <p:nvPr>
            <p:ph type="title"/>
          </p:nvPr>
        </p:nvSpPr>
        <p:spPr/>
        <p:txBody>
          <a:bodyPr/>
          <a:lstStyle/>
          <a:p>
            <a:r>
              <a:rPr lang="en-US" b="1" dirty="0"/>
              <a:t>Significance Matrix</a:t>
            </a:r>
          </a:p>
        </p:txBody>
      </p:sp>
      <p:sp>
        <p:nvSpPr>
          <p:cNvPr id="4" name="Content Placeholder 3">
            <a:extLst>
              <a:ext uri="{FF2B5EF4-FFF2-40B4-BE49-F238E27FC236}">
                <a16:creationId xmlns:a16="http://schemas.microsoft.com/office/drawing/2014/main" id="{74DC07E0-267F-1AFC-9BF2-A42F46F63DC3}"/>
              </a:ext>
            </a:extLst>
          </p:cNvPr>
          <p:cNvSpPr>
            <a:spLocks noGrp="1"/>
          </p:cNvSpPr>
          <p:nvPr>
            <p:ph sz="half" idx="2"/>
          </p:nvPr>
        </p:nvSpPr>
        <p:spPr/>
        <p:txBody>
          <a:bodyPr/>
          <a:lstStyle/>
          <a:p>
            <a:r>
              <a:rPr lang="en-US" dirty="0"/>
              <a:t>This shows the significance of the relationship between two variables. </a:t>
            </a:r>
          </a:p>
          <a:p>
            <a:endParaRPr lang="en-US" dirty="0"/>
          </a:p>
          <a:p>
            <a:r>
              <a:rPr lang="en-US" dirty="0"/>
              <a:t>P-value &lt; 0.05 : No Significant relationship</a:t>
            </a:r>
          </a:p>
          <a:p>
            <a:endParaRPr lang="en-US" dirty="0"/>
          </a:p>
          <a:p>
            <a:r>
              <a:rPr lang="en-US" dirty="0"/>
              <a:t>P-value &gt; 0.05 : Some Significant relationship.</a:t>
            </a:r>
          </a:p>
        </p:txBody>
      </p:sp>
      <p:pic>
        <p:nvPicPr>
          <p:cNvPr id="2050" name="Picture 2">
            <a:extLst>
              <a:ext uri="{FF2B5EF4-FFF2-40B4-BE49-F238E27FC236}">
                <a16:creationId xmlns:a16="http://schemas.microsoft.com/office/drawing/2014/main" id="{933BA940-38D6-F569-B989-5056EE931FF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91100" y="1280696"/>
            <a:ext cx="5502910" cy="50623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FEA9C13-8249-FEA4-1B00-6580FA636F0D}"/>
              </a:ext>
            </a:extLst>
          </p:cNvPr>
          <p:cNvSpPr txBox="1"/>
          <p:nvPr/>
        </p:nvSpPr>
        <p:spPr>
          <a:xfrm>
            <a:off x="5605273" y="6379576"/>
            <a:ext cx="685800" cy="369332"/>
          </a:xfrm>
          <a:prstGeom prst="rect">
            <a:avLst/>
          </a:prstGeom>
          <a:noFill/>
        </p:spPr>
        <p:txBody>
          <a:bodyPr wrap="square" rtlCol="0">
            <a:spAutoFit/>
          </a:bodyPr>
          <a:lstStyle/>
          <a:p>
            <a:pPr algn="ctr"/>
            <a:r>
              <a:rPr lang="en-US" dirty="0"/>
              <a:t>12</a:t>
            </a:r>
          </a:p>
        </p:txBody>
      </p:sp>
    </p:spTree>
    <p:extLst>
      <p:ext uri="{BB962C8B-B14F-4D97-AF65-F5344CB8AC3E}">
        <p14:creationId xmlns:p14="http://schemas.microsoft.com/office/powerpoint/2010/main" val="3383673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EB21-D6F6-781F-BC8F-8107945FF2B4}"/>
              </a:ext>
            </a:extLst>
          </p:cNvPr>
          <p:cNvSpPr>
            <a:spLocks noGrp="1"/>
          </p:cNvSpPr>
          <p:nvPr>
            <p:ph type="title"/>
          </p:nvPr>
        </p:nvSpPr>
        <p:spPr/>
        <p:txBody>
          <a:bodyPr/>
          <a:lstStyle/>
          <a:p>
            <a:r>
              <a:rPr lang="en-US" dirty="0"/>
              <a:t>Health and Socio-economic Factors</a:t>
            </a:r>
          </a:p>
        </p:txBody>
      </p:sp>
      <p:sp>
        <p:nvSpPr>
          <p:cNvPr id="3" name="Content Placeholder 2">
            <a:extLst>
              <a:ext uri="{FF2B5EF4-FFF2-40B4-BE49-F238E27FC236}">
                <a16:creationId xmlns:a16="http://schemas.microsoft.com/office/drawing/2014/main" id="{DC16FAFE-895F-AE29-C64D-5D77A53A9188}"/>
              </a:ext>
            </a:extLst>
          </p:cNvPr>
          <p:cNvSpPr>
            <a:spLocks noGrp="1"/>
          </p:cNvSpPr>
          <p:nvPr>
            <p:ph idx="1"/>
          </p:nvPr>
        </p:nvSpPr>
        <p:spPr/>
        <p:txBody>
          <a:bodyPr>
            <a:normAutofit lnSpcReduction="10000"/>
          </a:bodyPr>
          <a:lstStyle/>
          <a:p>
            <a:r>
              <a:rPr lang="en-US" dirty="0"/>
              <a:t>Health Outcomes: Alzheimer Rate per 100k, Cardiovascular Disease Rate per 100k, Respiratory Diseases Rate per 100k, Cancer Rate per 100, Diabetes Rate per 100k, Obesity Rate per 100k, Kidney Disease Rate per 100k, HIV Rate per 100k, Food Insecurity Perc, Infant Mortality Rate, Child Mortality Rate per 100k</a:t>
            </a:r>
          </a:p>
          <a:p>
            <a:r>
              <a:rPr lang="en-US" dirty="0"/>
              <a:t>Socio-economic Outcomes: Suicide Rate per 100k, Firearm Mortality Rate per 100k, Violent Crime Mortality Rate per 100k, Drug Deaths Rate per 100k, White perc, Black perc, Care Avoided due to Cost perc, Income inequality, Median Income, Cost of Living Index, Food Insecurity Perc, Housing Insecurity, Annual Avg Temp, State vs Federal Wage perc diff</a:t>
            </a:r>
          </a:p>
        </p:txBody>
      </p:sp>
      <p:sp>
        <p:nvSpPr>
          <p:cNvPr id="4" name="TextBox 3">
            <a:extLst>
              <a:ext uri="{FF2B5EF4-FFF2-40B4-BE49-F238E27FC236}">
                <a16:creationId xmlns:a16="http://schemas.microsoft.com/office/drawing/2014/main" id="{3F240B6E-E147-1970-58C3-5E778A0A7F46}"/>
              </a:ext>
            </a:extLst>
          </p:cNvPr>
          <p:cNvSpPr txBox="1"/>
          <p:nvPr/>
        </p:nvSpPr>
        <p:spPr>
          <a:xfrm>
            <a:off x="5605273" y="6379576"/>
            <a:ext cx="685800" cy="369332"/>
          </a:xfrm>
          <a:prstGeom prst="rect">
            <a:avLst/>
          </a:prstGeom>
          <a:noFill/>
        </p:spPr>
        <p:txBody>
          <a:bodyPr wrap="square" rtlCol="0">
            <a:spAutoFit/>
          </a:bodyPr>
          <a:lstStyle/>
          <a:p>
            <a:pPr algn="ctr"/>
            <a:r>
              <a:rPr lang="en-US" dirty="0"/>
              <a:t>13</a:t>
            </a:r>
          </a:p>
        </p:txBody>
      </p:sp>
    </p:spTree>
    <p:extLst>
      <p:ext uri="{BB962C8B-B14F-4D97-AF65-F5344CB8AC3E}">
        <p14:creationId xmlns:p14="http://schemas.microsoft.com/office/powerpoint/2010/main" val="244230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6CF91-C2D2-ED6D-B2BB-B001C0655072}"/>
              </a:ext>
            </a:extLst>
          </p:cNvPr>
          <p:cNvSpPr>
            <a:spLocks noGrp="1"/>
          </p:cNvSpPr>
          <p:nvPr>
            <p:ph type="title"/>
          </p:nvPr>
        </p:nvSpPr>
        <p:spPr/>
        <p:txBody>
          <a:bodyPr>
            <a:normAutofit fontScale="90000"/>
          </a:bodyPr>
          <a:lstStyle/>
          <a:p>
            <a:r>
              <a:rPr lang="en-US" b="1" dirty="0"/>
              <a:t>Significance Matrix (Health vs Socio-economic outcomes)</a:t>
            </a:r>
          </a:p>
        </p:txBody>
      </p:sp>
      <p:sp>
        <p:nvSpPr>
          <p:cNvPr id="4" name="Content Placeholder 3">
            <a:extLst>
              <a:ext uri="{FF2B5EF4-FFF2-40B4-BE49-F238E27FC236}">
                <a16:creationId xmlns:a16="http://schemas.microsoft.com/office/drawing/2014/main" id="{5929E801-3236-4C2E-C0C5-2D9BFF2E10F5}"/>
              </a:ext>
            </a:extLst>
          </p:cNvPr>
          <p:cNvSpPr>
            <a:spLocks noGrp="1"/>
          </p:cNvSpPr>
          <p:nvPr>
            <p:ph sz="half" idx="2"/>
          </p:nvPr>
        </p:nvSpPr>
        <p:spPr>
          <a:xfrm>
            <a:off x="6172199" y="1825625"/>
            <a:ext cx="5706611" cy="4351338"/>
          </a:xfrm>
        </p:spPr>
        <p:txBody>
          <a:bodyPr>
            <a:normAutofit lnSpcReduction="10000"/>
          </a:bodyPr>
          <a:lstStyle/>
          <a:p>
            <a:r>
              <a:rPr lang="en-US" dirty="0"/>
              <a:t>This Significance Matrix only displays the significant relationships between Health outcomes and Socio-economic outcomes.</a:t>
            </a:r>
          </a:p>
          <a:p>
            <a:endParaRPr lang="en-US" dirty="0"/>
          </a:p>
          <a:p>
            <a:r>
              <a:rPr lang="en-US" dirty="0"/>
              <a:t>Any P-value &gt; 0.05 is removed from the matrix.  </a:t>
            </a:r>
          </a:p>
          <a:p>
            <a:endParaRPr lang="en-US" dirty="0"/>
          </a:p>
          <a:p>
            <a:r>
              <a:rPr lang="en-US" dirty="0"/>
              <a:t>The 0.0 is just rounding up               P-values &lt; 0.05.</a:t>
            </a:r>
          </a:p>
        </p:txBody>
      </p:sp>
      <p:pic>
        <p:nvPicPr>
          <p:cNvPr id="3074" name="Picture 2">
            <a:extLst>
              <a:ext uri="{FF2B5EF4-FFF2-40B4-BE49-F238E27FC236}">
                <a16:creationId xmlns:a16="http://schemas.microsoft.com/office/drawing/2014/main" id="{2791473C-353D-5461-CFB9-2A26AE9D595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35691" y="1304228"/>
            <a:ext cx="5627820" cy="50294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DA7B57E-EEF9-DF4E-64DA-5D2F1C09D37C}"/>
              </a:ext>
            </a:extLst>
          </p:cNvPr>
          <p:cNvSpPr txBox="1"/>
          <p:nvPr/>
        </p:nvSpPr>
        <p:spPr>
          <a:xfrm>
            <a:off x="5605273" y="6379576"/>
            <a:ext cx="685800" cy="369332"/>
          </a:xfrm>
          <a:prstGeom prst="rect">
            <a:avLst/>
          </a:prstGeom>
          <a:noFill/>
        </p:spPr>
        <p:txBody>
          <a:bodyPr wrap="square" rtlCol="0">
            <a:spAutoFit/>
          </a:bodyPr>
          <a:lstStyle/>
          <a:p>
            <a:pPr algn="ctr"/>
            <a:r>
              <a:rPr lang="en-US" dirty="0"/>
              <a:t>14</a:t>
            </a:r>
          </a:p>
        </p:txBody>
      </p:sp>
    </p:spTree>
    <p:extLst>
      <p:ext uri="{BB962C8B-B14F-4D97-AF65-F5344CB8AC3E}">
        <p14:creationId xmlns:p14="http://schemas.microsoft.com/office/powerpoint/2010/main" val="93440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F18B3-73FB-BBB2-7AE2-49913F612865}"/>
              </a:ext>
            </a:extLst>
          </p:cNvPr>
          <p:cNvSpPr>
            <a:spLocks noGrp="1"/>
          </p:cNvSpPr>
          <p:nvPr>
            <p:ph type="title"/>
          </p:nvPr>
        </p:nvSpPr>
        <p:spPr/>
        <p:txBody>
          <a:bodyPr/>
          <a:lstStyle/>
          <a:p>
            <a:r>
              <a:rPr lang="en-US" b="1" dirty="0"/>
              <a:t>Hypothesis Testing </a:t>
            </a:r>
          </a:p>
        </p:txBody>
      </p:sp>
      <p:pic>
        <p:nvPicPr>
          <p:cNvPr id="6" name="Content Placeholder 5">
            <a:extLst>
              <a:ext uri="{FF2B5EF4-FFF2-40B4-BE49-F238E27FC236}">
                <a16:creationId xmlns:a16="http://schemas.microsoft.com/office/drawing/2014/main" id="{D5AC8E16-8227-611C-D038-A3C1142898D5}"/>
              </a:ext>
            </a:extLst>
          </p:cNvPr>
          <p:cNvPicPr>
            <a:picLocks noGrp="1" noChangeAspect="1"/>
          </p:cNvPicPr>
          <p:nvPr>
            <p:ph sz="half" idx="1"/>
          </p:nvPr>
        </p:nvPicPr>
        <p:blipFill>
          <a:blip r:embed="rId2"/>
          <a:stretch>
            <a:fillRect/>
          </a:stretch>
        </p:blipFill>
        <p:spPr>
          <a:xfrm>
            <a:off x="193257" y="1484134"/>
            <a:ext cx="6015383" cy="2585056"/>
          </a:xfrm>
        </p:spPr>
      </p:pic>
      <p:pic>
        <p:nvPicPr>
          <p:cNvPr id="8" name="Content Placeholder 7">
            <a:extLst>
              <a:ext uri="{FF2B5EF4-FFF2-40B4-BE49-F238E27FC236}">
                <a16:creationId xmlns:a16="http://schemas.microsoft.com/office/drawing/2014/main" id="{7797EB53-F597-0BB2-DB21-9C0895A694B8}"/>
              </a:ext>
            </a:extLst>
          </p:cNvPr>
          <p:cNvPicPr>
            <a:picLocks noGrp="1" noChangeAspect="1"/>
          </p:cNvPicPr>
          <p:nvPr>
            <p:ph sz="half" idx="2"/>
          </p:nvPr>
        </p:nvPicPr>
        <p:blipFill>
          <a:blip r:embed="rId3"/>
          <a:stretch>
            <a:fillRect/>
          </a:stretch>
        </p:blipFill>
        <p:spPr>
          <a:xfrm>
            <a:off x="6289257" y="1484134"/>
            <a:ext cx="5902743" cy="4065096"/>
          </a:xfrm>
        </p:spPr>
      </p:pic>
      <p:sp>
        <p:nvSpPr>
          <p:cNvPr id="9" name="TextBox 8">
            <a:extLst>
              <a:ext uri="{FF2B5EF4-FFF2-40B4-BE49-F238E27FC236}">
                <a16:creationId xmlns:a16="http://schemas.microsoft.com/office/drawing/2014/main" id="{4E822FDC-B046-CAB7-7FB4-B73301D71BE9}"/>
              </a:ext>
            </a:extLst>
          </p:cNvPr>
          <p:cNvSpPr txBox="1"/>
          <p:nvPr/>
        </p:nvSpPr>
        <p:spPr>
          <a:xfrm>
            <a:off x="193258" y="4566369"/>
            <a:ext cx="6015382" cy="1015663"/>
          </a:xfrm>
          <a:prstGeom prst="rect">
            <a:avLst/>
          </a:prstGeom>
          <a:noFill/>
        </p:spPr>
        <p:txBody>
          <a:bodyPr wrap="square" rtlCol="0">
            <a:spAutoFit/>
          </a:bodyPr>
          <a:lstStyle/>
          <a:p>
            <a:r>
              <a:rPr lang="en-US" sz="2000" dirty="0"/>
              <a:t>This hypothesis testing is only to find out if Preemption and Health/Socio-economic outcomes have any sort of relation. It does not describe what sort of relation it is.</a:t>
            </a:r>
          </a:p>
        </p:txBody>
      </p:sp>
      <p:sp>
        <p:nvSpPr>
          <p:cNvPr id="3" name="TextBox 2">
            <a:extLst>
              <a:ext uri="{FF2B5EF4-FFF2-40B4-BE49-F238E27FC236}">
                <a16:creationId xmlns:a16="http://schemas.microsoft.com/office/drawing/2014/main" id="{5D435E6D-7B2E-6470-12BA-E021953AEC9A}"/>
              </a:ext>
            </a:extLst>
          </p:cNvPr>
          <p:cNvSpPr txBox="1"/>
          <p:nvPr/>
        </p:nvSpPr>
        <p:spPr>
          <a:xfrm>
            <a:off x="5605273" y="6379576"/>
            <a:ext cx="685800" cy="369332"/>
          </a:xfrm>
          <a:prstGeom prst="rect">
            <a:avLst/>
          </a:prstGeom>
          <a:noFill/>
        </p:spPr>
        <p:txBody>
          <a:bodyPr wrap="square" rtlCol="0">
            <a:spAutoFit/>
          </a:bodyPr>
          <a:lstStyle/>
          <a:p>
            <a:pPr algn="ctr"/>
            <a:r>
              <a:rPr lang="en-US" dirty="0"/>
              <a:t>15</a:t>
            </a:r>
          </a:p>
        </p:txBody>
      </p:sp>
    </p:spTree>
    <p:extLst>
      <p:ext uri="{BB962C8B-B14F-4D97-AF65-F5344CB8AC3E}">
        <p14:creationId xmlns:p14="http://schemas.microsoft.com/office/powerpoint/2010/main" val="3834848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53471-88F8-CC7B-D7D6-4DFD5799ABD9}"/>
              </a:ext>
            </a:extLst>
          </p:cNvPr>
          <p:cNvSpPr>
            <a:spLocks noGrp="1"/>
          </p:cNvSpPr>
          <p:nvPr>
            <p:ph type="title"/>
          </p:nvPr>
        </p:nvSpPr>
        <p:spPr/>
        <p:txBody>
          <a:bodyPr>
            <a:normAutofit fontScale="90000"/>
          </a:bodyPr>
          <a:lstStyle/>
          <a:p>
            <a:r>
              <a:rPr lang="en-US" b="1" dirty="0"/>
              <a:t>Health Outcomes in Preempted/Non-preempted States</a:t>
            </a:r>
          </a:p>
        </p:txBody>
      </p:sp>
      <p:pic>
        <p:nvPicPr>
          <p:cNvPr id="6" name="Content Placeholder 5">
            <a:extLst>
              <a:ext uri="{FF2B5EF4-FFF2-40B4-BE49-F238E27FC236}">
                <a16:creationId xmlns:a16="http://schemas.microsoft.com/office/drawing/2014/main" id="{336FD9D2-4929-E755-44F8-3810848FF33F}"/>
              </a:ext>
            </a:extLst>
          </p:cNvPr>
          <p:cNvPicPr>
            <a:picLocks noGrp="1" noChangeAspect="1"/>
          </p:cNvPicPr>
          <p:nvPr>
            <p:ph sz="half" idx="1"/>
          </p:nvPr>
        </p:nvPicPr>
        <p:blipFill>
          <a:blip r:embed="rId2"/>
          <a:stretch>
            <a:fillRect/>
          </a:stretch>
        </p:blipFill>
        <p:spPr>
          <a:xfrm>
            <a:off x="105845" y="1640909"/>
            <a:ext cx="7585295" cy="4351338"/>
          </a:xfrm>
        </p:spPr>
      </p:pic>
      <p:pic>
        <p:nvPicPr>
          <p:cNvPr id="8" name="Picture 7">
            <a:extLst>
              <a:ext uri="{FF2B5EF4-FFF2-40B4-BE49-F238E27FC236}">
                <a16:creationId xmlns:a16="http://schemas.microsoft.com/office/drawing/2014/main" id="{2CE0FC3F-26B7-A976-79E4-4712FC72FB6D}"/>
              </a:ext>
            </a:extLst>
          </p:cNvPr>
          <p:cNvPicPr>
            <a:picLocks noChangeAspect="1"/>
          </p:cNvPicPr>
          <p:nvPr/>
        </p:nvPicPr>
        <p:blipFill>
          <a:blip r:embed="rId3"/>
          <a:stretch>
            <a:fillRect/>
          </a:stretch>
        </p:blipFill>
        <p:spPr>
          <a:xfrm>
            <a:off x="7794712" y="1640909"/>
            <a:ext cx="4291443" cy="4351338"/>
          </a:xfrm>
          <a:prstGeom prst="rect">
            <a:avLst/>
          </a:prstGeom>
        </p:spPr>
      </p:pic>
      <p:sp>
        <p:nvSpPr>
          <p:cNvPr id="3" name="TextBox 2">
            <a:extLst>
              <a:ext uri="{FF2B5EF4-FFF2-40B4-BE49-F238E27FC236}">
                <a16:creationId xmlns:a16="http://schemas.microsoft.com/office/drawing/2014/main" id="{4B2FCFB0-5349-8A4F-2D69-FB77821D50F5}"/>
              </a:ext>
            </a:extLst>
          </p:cNvPr>
          <p:cNvSpPr txBox="1"/>
          <p:nvPr/>
        </p:nvSpPr>
        <p:spPr>
          <a:xfrm>
            <a:off x="5605273" y="6379576"/>
            <a:ext cx="685800" cy="369332"/>
          </a:xfrm>
          <a:prstGeom prst="rect">
            <a:avLst/>
          </a:prstGeom>
          <a:noFill/>
        </p:spPr>
        <p:txBody>
          <a:bodyPr wrap="square" rtlCol="0">
            <a:spAutoFit/>
          </a:bodyPr>
          <a:lstStyle/>
          <a:p>
            <a:pPr algn="ctr"/>
            <a:r>
              <a:rPr lang="en-US" dirty="0"/>
              <a:t>16</a:t>
            </a:r>
          </a:p>
        </p:txBody>
      </p:sp>
    </p:spTree>
    <p:extLst>
      <p:ext uri="{BB962C8B-B14F-4D97-AF65-F5344CB8AC3E}">
        <p14:creationId xmlns:p14="http://schemas.microsoft.com/office/powerpoint/2010/main" val="384331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9C115-3F92-4993-D154-7404DEB0E405}"/>
              </a:ext>
            </a:extLst>
          </p:cNvPr>
          <p:cNvSpPr>
            <a:spLocks noGrp="1"/>
          </p:cNvSpPr>
          <p:nvPr>
            <p:ph type="title"/>
          </p:nvPr>
        </p:nvSpPr>
        <p:spPr/>
        <p:txBody>
          <a:bodyPr>
            <a:normAutofit fontScale="90000"/>
          </a:bodyPr>
          <a:lstStyle/>
          <a:p>
            <a:r>
              <a:rPr lang="en-US" b="1" dirty="0"/>
              <a:t>Health Outcomes in Preempted/Non-preempted States</a:t>
            </a:r>
            <a:endParaRPr lang="en-US" dirty="0"/>
          </a:p>
        </p:txBody>
      </p:sp>
      <p:sp>
        <p:nvSpPr>
          <p:cNvPr id="3" name="Content Placeholder 2">
            <a:extLst>
              <a:ext uri="{FF2B5EF4-FFF2-40B4-BE49-F238E27FC236}">
                <a16:creationId xmlns:a16="http://schemas.microsoft.com/office/drawing/2014/main" id="{2BB196B2-684F-D115-D79C-D23F933596C9}"/>
              </a:ext>
            </a:extLst>
          </p:cNvPr>
          <p:cNvSpPr>
            <a:spLocks noGrp="1"/>
          </p:cNvSpPr>
          <p:nvPr>
            <p:ph sz="half" idx="1"/>
          </p:nvPr>
        </p:nvSpPr>
        <p:spPr>
          <a:xfrm>
            <a:off x="275573" y="1465545"/>
            <a:ext cx="2581927" cy="4711418"/>
          </a:xfrm>
        </p:spPr>
        <p:txBody>
          <a:bodyPr>
            <a:normAutofit fontScale="25000" lnSpcReduction="20000"/>
          </a:bodyPr>
          <a:lstStyle/>
          <a:p>
            <a:pPr marL="0" indent="0">
              <a:buNone/>
            </a:pPr>
            <a:r>
              <a:rPr lang="en-US" b="1" dirty="0"/>
              <a:t>Results for Alzheimer Rate per 100k:</a:t>
            </a:r>
          </a:p>
          <a:p>
            <a:pPr marL="0" indent="0">
              <a:buNone/>
            </a:pPr>
            <a:r>
              <a:rPr lang="en-US" dirty="0"/>
              <a:t>Intercept: Coefficient = 28.9284, p-value = 0.0000</a:t>
            </a:r>
          </a:p>
          <a:p>
            <a:pPr marL="0" indent="0">
              <a:buNone/>
            </a:pPr>
            <a:r>
              <a:rPr lang="en-US" dirty="0"/>
              <a:t>Preempted: Coefficient = 4.7525, p-value = 0.1780</a:t>
            </a:r>
          </a:p>
          <a:p>
            <a:pPr marL="0" indent="0">
              <a:buNone/>
            </a:pPr>
            <a:r>
              <a:rPr lang="en-US" dirty="0"/>
              <a:t>Post: Coefficient = 3.1453, p-value = 0.3185</a:t>
            </a:r>
          </a:p>
          <a:p>
            <a:pPr marL="0" indent="0">
              <a:buNone/>
            </a:pPr>
            <a:r>
              <a:rPr lang="en-US" dirty="0" err="1"/>
              <a:t>Preemption_Post</a:t>
            </a:r>
            <a:r>
              <a:rPr lang="en-US" dirty="0"/>
              <a:t>: Coefficient = 1.5049, p-value = 0.7407</a:t>
            </a:r>
          </a:p>
          <a:p>
            <a:pPr marL="0" indent="0">
              <a:buNone/>
            </a:pPr>
            <a:endParaRPr lang="en-US" dirty="0"/>
          </a:p>
          <a:p>
            <a:pPr marL="0" indent="0">
              <a:buNone/>
            </a:pPr>
            <a:r>
              <a:rPr lang="en-US" b="1" dirty="0"/>
              <a:t>Results for Cardiovascular Disease Rate per 100k:</a:t>
            </a:r>
          </a:p>
          <a:p>
            <a:pPr marL="0" indent="0">
              <a:buNone/>
            </a:pPr>
            <a:r>
              <a:rPr lang="en-US" dirty="0"/>
              <a:t>Intercept: Coefficient = 206.7102, p-value = 0.0000</a:t>
            </a:r>
          </a:p>
          <a:p>
            <a:pPr marL="0" indent="0">
              <a:buNone/>
            </a:pPr>
            <a:r>
              <a:rPr lang="en-US" dirty="0"/>
              <a:t>Preempted: Coefficient = 24.8644, p-value = 0.0063</a:t>
            </a:r>
          </a:p>
          <a:p>
            <a:pPr marL="0" indent="0">
              <a:buNone/>
            </a:pPr>
            <a:r>
              <a:rPr lang="en-US" dirty="0"/>
              <a:t>Post: Coefficient = -8.7136, p-value = 0.2817</a:t>
            </a:r>
          </a:p>
          <a:p>
            <a:pPr marL="0" indent="0">
              <a:buNone/>
            </a:pPr>
            <a:r>
              <a:rPr lang="en-US" dirty="0" err="1"/>
              <a:t>Preemption_Post</a:t>
            </a:r>
            <a:r>
              <a:rPr lang="en-US" dirty="0"/>
              <a:t>: Coefficient = 7.5725, p-value = 0.5165</a:t>
            </a:r>
          </a:p>
          <a:p>
            <a:pPr marL="0" indent="0">
              <a:buNone/>
            </a:pPr>
            <a:endParaRPr lang="en-US" dirty="0"/>
          </a:p>
          <a:p>
            <a:pPr marL="0" indent="0">
              <a:buNone/>
            </a:pPr>
            <a:r>
              <a:rPr lang="en-US" b="1" dirty="0"/>
              <a:t>Results for Cancer Rate per 100k:</a:t>
            </a:r>
          </a:p>
          <a:p>
            <a:pPr marL="0" indent="0">
              <a:buNone/>
            </a:pPr>
            <a:r>
              <a:rPr lang="en-US" dirty="0"/>
              <a:t>Intercept: Coefficient = 187.8567, p-value = 0.0000</a:t>
            </a:r>
          </a:p>
          <a:p>
            <a:pPr marL="0" indent="0">
              <a:buNone/>
            </a:pPr>
            <a:r>
              <a:rPr lang="en-US" dirty="0"/>
              <a:t>Preempted: Coefficient = 16.4303, p-value = 0.0225</a:t>
            </a:r>
          </a:p>
          <a:p>
            <a:pPr marL="0" indent="0">
              <a:buNone/>
            </a:pPr>
            <a:r>
              <a:rPr lang="en-US" dirty="0"/>
              <a:t>Post: Coefficient = -0.9363, p-value = 0.8838</a:t>
            </a:r>
          </a:p>
          <a:p>
            <a:pPr marL="0" indent="0">
              <a:buNone/>
            </a:pPr>
            <a:r>
              <a:rPr lang="en-US" dirty="0" err="1"/>
              <a:t>Preemption_Post</a:t>
            </a:r>
            <a:r>
              <a:rPr lang="en-US" dirty="0"/>
              <a:t>: Coefficient = 0.6637, p-value = 0.9428</a:t>
            </a:r>
          </a:p>
          <a:p>
            <a:pPr marL="0" indent="0">
              <a:buNone/>
            </a:pPr>
            <a:endParaRPr lang="en-US" dirty="0"/>
          </a:p>
          <a:p>
            <a:pPr marL="0" indent="0">
              <a:buNone/>
            </a:pPr>
            <a:r>
              <a:rPr lang="en-US" b="1" dirty="0"/>
              <a:t>Results for Diabetes Rate per 100k:</a:t>
            </a:r>
          </a:p>
          <a:p>
            <a:pPr marL="0" indent="0">
              <a:buNone/>
            </a:pPr>
            <a:r>
              <a:rPr lang="en-US" dirty="0"/>
              <a:t>Intercept: Coefficient = 23.5435, p-value = 0.0000</a:t>
            </a:r>
          </a:p>
          <a:p>
            <a:pPr marL="0" indent="0">
              <a:buNone/>
            </a:pPr>
            <a:r>
              <a:rPr lang="en-US" dirty="0"/>
              <a:t>Preempted: Coefficient = 4.1923, p-value = 0.0002</a:t>
            </a:r>
          </a:p>
          <a:p>
            <a:pPr marL="0" indent="0">
              <a:buNone/>
            </a:pPr>
            <a:r>
              <a:rPr lang="en-US" dirty="0"/>
              <a:t>Post: Coefficient = -1.2940, p-value = 0.1986</a:t>
            </a:r>
          </a:p>
          <a:p>
            <a:pPr marL="0" indent="0">
              <a:buNone/>
            </a:pPr>
            <a:r>
              <a:rPr lang="en-US" dirty="0" err="1"/>
              <a:t>Preemption_Post</a:t>
            </a:r>
            <a:r>
              <a:rPr lang="en-US" dirty="0"/>
              <a:t>: Coefficient = 1.8419, p-value = 0.2048</a:t>
            </a:r>
          </a:p>
          <a:p>
            <a:pPr marL="0" indent="0">
              <a:buNone/>
            </a:pPr>
            <a:endParaRPr lang="en-US" dirty="0"/>
          </a:p>
        </p:txBody>
      </p:sp>
      <p:sp>
        <p:nvSpPr>
          <p:cNvPr id="5" name="Content Placeholder 2">
            <a:extLst>
              <a:ext uri="{FF2B5EF4-FFF2-40B4-BE49-F238E27FC236}">
                <a16:creationId xmlns:a16="http://schemas.microsoft.com/office/drawing/2014/main" id="{38FBA9AD-25CE-3F23-9069-1817BE4AD005}"/>
              </a:ext>
            </a:extLst>
          </p:cNvPr>
          <p:cNvSpPr txBox="1">
            <a:spLocks/>
          </p:cNvSpPr>
          <p:nvPr/>
        </p:nvSpPr>
        <p:spPr>
          <a:xfrm>
            <a:off x="4170098" y="1465545"/>
            <a:ext cx="2581927" cy="4711418"/>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Results for Obesity Rate per 100k:</a:t>
            </a:r>
          </a:p>
          <a:p>
            <a:pPr marL="0" indent="0">
              <a:buFont typeface="Arial" panose="020B0604020202020204" pitchFamily="34" charset="0"/>
              <a:buNone/>
            </a:pPr>
            <a:r>
              <a:rPr lang="en-US" dirty="0"/>
              <a:t>Intercept: Coefficient = 5678.0713, p-value = 0.0000</a:t>
            </a:r>
          </a:p>
          <a:p>
            <a:pPr marL="0" indent="0">
              <a:buFont typeface="Arial" panose="020B0604020202020204" pitchFamily="34" charset="0"/>
              <a:buNone/>
            </a:pPr>
            <a:r>
              <a:rPr lang="en-US" dirty="0"/>
              <a:t>Preempted: Coefficient = 1293.7477, p-value = 0.0010</a:t>
            </a:r>
          </a:p>
          <a:p>
            <a:pPr marL="0" indent="0">
              <a:buFont typeface="Arial" panose="020B0604020202020204" pitchFamily="34" charset="0"/>
              <a:buNone/>
            </a:pPr>
            <a:r>
              <a:rPr lang="en-US" dirty="0"/>
              <a:t>Post: Coefficient = 360.2366, p-value = 0.3029</a:t>
            </a:r>
          </a:p>
          <a:p>
            <a:pPr marL="0" indent="0">
              <a:buFont typeface="Arial" panose="020B0604020202020204" pitchFamily="34" charset="0"/>
              <a:buNone/>
            </a:pPr>
            <a:r>
              <a:rPr lang="en-US" dirty="0" err="1"/>
              <a:t>Preemption_Post</a:t>
            </a:r>
            <a:r>
              <a:rPr lang="en-US" dirty="0"/>
              <a:t>: Coefficient = 179.9310, p-value = 0.7212</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Results for Kidney Disease Rate per 100k:</a:t>
            </a:r>
          </a:p>
          <a:p>
            <a:pPr marL="0" indent="0">
              <a:buFont typeface="Arial" panose="020B0604020202020204" pitchFamily="34" charset="0"/>
              <a:buNone/>
            </a:pPr>
            <a:r>
              <a:rPr lang="en-US" dirty="0"/>
              <a:t>Intercept: Coefficient = 14.8089, p-value = 0.0000</a:t>
            </a:r>
          </a:p>
          <a:p>
            <a:pPr marL="0" indent="0">
              <a:buFont typeface="Arial" panose="020B0604020202020204" pitchFamily="34" charset="0"/>
              <a:buNone/>
            </a:pPr>
            <a:r>
              <a:rPr lang="en-US" dirty="0"/>
              <a:t>Preempted: Coefficient = 1.8767, p-value = 0.1127</a:t>
            </a:r>
          </a:p>
          <a:p>
            <a:pPr marL="0" indent="0">
              <a:buFont typeface="Arial" panose="020B0604020202020204" pitchFamily="34" charset="0"/>
              <a:buNone/>
            </a:pPr>
            <a:r>
              <a:rPr lang="en-US" dirty="0"/>
              <a:t>Post: Coefficient = 0.7053, p-value = 0.5042</a:t>
            </a:r>
          </a:p>
          <a:p>
            <a:pPr marL="0" indent="0">
              <a:buFont typeface="Arial" panose="020B0604020202020204" pitchFamily="34" charset="0"/>
              <a:buNone/>
            </a:pPr>
            <a:r>
              <a:rPr lang="en-US" dirty="0" err="1"/>
              <a:t>Preemption_Post</a:t>
            </a:r>
            <a:r>
              <a:rPr lang="en-US" dirty="0"/>
              <a:t>: Coefficient = 0.0025, p-value = 0.9987</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Results for HIV Rate per 100k:</a:t>
            </a:r>
          </a:p>
          <a:p>
            <a:pPr marL="0" indent="0">
              <a:buFont typeface="Arial" panose="020B0604020202020204" pitchFamily="34" charset="0"/>
              <a:buNone/>
            </a:pPr>
            <a:r>
              <a:rPr lang="en-US" dirty="0"/>
              <a:t>Intercept: Coefficient = 3.0603, p-value = 0.0000</a:t>
            </a:r>
          </a:p>
          <a:p>
            <a:pPr marL="0" indent="0">
              <a:buFont typeface="Arial" panose="020B0604020202020204" pitchFamily="34" charset="0"/>
              <a:buNone/>
            </a:pPr>
            <a:r>
              <a:rPr lang="en-US" dirty="0"/>
              <a:t>Preempted: Coefficient = 0.3130, p-value = 0.5976</a:t>
            </a:r>
          </a:p>
          <a:p>
            <a:pPr marL="0" indent="0">
              <a:buFont typeface="Arial" panose="020B0604020202020204" pitchFamily="34" charset="0"/>
              <a:buNone/>
            </a:pPr>
            <a:r>
              <a:rPr lang="en-US" dirty="0"/>
              <a:t>Post: Coefficient = -0.6097, p-value = 0.2509</a:t>
            </a:r>
          </a:p>
          <a:p>
            <a:pPr marL="0" indent="0">
              <a:buFont typeface="Arial" panose="020B0604020202020204" pitchFamily="34" charset="0"/>
              <a:buNone/>
            </a:pPr>
            <a:r>
              <a:rPr lang="en-US" dirty="0" err="1"/>
              <a:t>Preemption_Post</a:t>
            </a:r>
            <a:r>
              <a:rPr lang="en-US" dirty="0"/>
              <a:t>: Coefficient = 0.5256, p-value = 0.4925</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Results for Food Insecurity Perc:</a:t>
            </a:r>
          </a:p>
          <a:p>
            <a:pPr marL="0" indent="0">
              <a:buFont typeface="Arial" panose="020B0604020202020204" pitchFamily="34" charset="0"/>
              <a:buNone/>
            </a:pPr>
            <a:r>
              <a:rPr lang="en-US" dirty="0"/>
              <a:t>Intercept: Coefficient = 10.5154, p-value = 0.0000</a:t>
            </a:r>
          </a:p>
          <a:p>
            <a:pPr marL="0" indent="0">
              <a:buFont typeface="Arial" panose="020B0604020202020204" pitchFamily="34" charset="0"/>
              <a:buNone/>
            </a:pPr>
            <a:r>
              <a:rPr lang="en-US" dirty="0"/>
              <a:t>Preempted: Coefficient = 2.3742, p-value = 0.0000</a:t>
            </a:r>
          </a:p>
          <a:p>
            <a:pPr marL="0" indent="0">
              <a:buFont typeface="Arial" panose="020B0604020202020204" pitchFamily="34" charset="0"/>
              <a:buNone/>
            </a:pPr>
            <a:r>
              <a:rPr lang="en-US" dirty="0"/>
              <a:t>Post: Coefficient = 1.2205, p-value = 0.0026</a:t>
            </a:r>
          </a:p>
          <a:p>
            <a:pPr marL="0" indent="0">
              <a:buFont typeface="Arial" panose="020B0604020202020204" pitchFamily="34" charset="0"/>
              <a:buNone/>
            </a:pPr>
            <a:r>
              <a:rPr lang="en-US" dirty="0" err="1"/>
              <a:t>Preemption_Post</a:t>
            </a:r>
            <a:r>
              <a:rPr lang="en-US" dirty="0"/>
              <a:t>: Coefficient = -1.3198, p-value = 0.0232</a:t>
            </a:r>
          </a:p>
        </p:txBody>
      </p:sp>
      <p:sp>
        <p:nvSpPr>
          <p:cNvPr id="6" name="Content Placeholder 2">
            <a:extLst>
              <a:ext uri="{FF2B5EF4-FFF2-40B4-BE49-F238E27FC236}">
                <a16:creationId xmlns:a16="http://schemas.microsoft.com/office/drawing/2014/main" id="{00F3670E-2D3D-480E-B066-14EDAFFAF90D}"/>
              </a:ext>
            </a:extLst>
          </p:cNvPr>
          <p:cNvSpPr txBox="1">
            <a:spLocks/>
          </p:cNvSpPr>
          <p:nvPr/>
        </p:nvSpPr>
        <p:spPr>
          <a:xfrm>
            <a:off x="8188847" y="1465545"/>
            <a:ext cx="2581927" cy="47114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700" b="1" dirty="0"/>
              <a:t>Results for Infant Mortality Rate:</a:t>
            </a:r>
          </a:p>
          <a:p>
            <a:pPr marL="0" indent="0">
              <a:buFont typeface="Arial" panose="020B0604020202020204" pitchFamily="34" charset="0"/>
              <a:buNone/>
            </a:pPr>
            <a:r>
              <a:rPr lang="en-US" sz="700" dirty="0"/>
              <a:t>Intercept: Coefficient = 6.6867, p-value = 0.0000</a:t>
            </a:r>
          </a:p>
          <a:p>
            <a:pPr marL="0" indent="0">
              <a:buFont typeface="Arial" panose="020B0604020202020204" pitchFamily="34" charset="0"/>
              <a:buNone/>
            </a:pPr>
            <a:r>
              <a:rPr lang="en-US" sz="700" dirty="0"/>
              <a:t>Preempted: Coefficient = 0.2664, p-value = 0.3110</a:t>
            </a:r>
          </a:p>
          <a:p>
            <a:pPr marL="0" indent="0">
              <a:buFont typeface="Arial" panose="020B0604020202020204" pitchFamily="34" charset="0"/>
              <a:buNone/>
            </a:pPr>
            <a:r>
              <a:rPr lang="en-US" sz="700" dirty="0"/>
              <a:t>Post: Coefficient = -0.4843, p-value = 0.0401</a:t>
            </a:r>
          </a:p>
          <a:p>
            <a:pPr marL="0" indent="0">
              <a:buFont typeface="Arial" panose="020B0604020202020204" pitchFamily="34" charset="0"/>
              <a:buNone/>
            </a:pPr>
            <a:r>
              <a:rPr lang="en-US" sz="700" dirty="0" err="1"/>
              <a:t>Preemption_Post</a:t>
            </a:r>
            <a:r>
              <a:rPr lang="en-US" sz="700" dirty="0"/>
              <a:t>: Coefficient = 0.4083, p-value = 0.2293</a:t>
            </a:r>
          </a:p>
          <a:p>
            <a:pPr marL="0" indent="0">
              <a:buFont typeface="Arial" panose="020B0604020202020204" pitchFamily="34" charset="0"/>
              <a:buNone/>
            </a:pPr>
            <a:endParaRPr lang="en-US" sz="700" dirty="0"/>
          </a:p>
          <a:p>
            <a:pPr marL="0" indent="0">
              <a:buFont typeface="Arial" panose="020B0604020202020204" pitchFamily="34" charset="0"/>
              <a:buNone/>
            </a:pPr>
            <a:r>
              <a:rPr lang="en-US" sz="700" b="1" dirty="0"/>
              <a:t>Results for Child Mortality Rate per 100k:</a:t>
            </a:r>
          </a:p>
          <a:p>
            <a:pPr marL="0" indent="0">
              <a:buFont typeface="Arial" panose="020B0604020202020204" pitchFamily="34" charset="0"/>
              <a:buNone/>
            </a:pPr>
            <a:r>
              <a:rPr lang="en-US" sz="700" dirty="0"/>
              <a:t>Intercept: Coefficient = 1.9918, p-value = 0.0000</a:t>
            </a:r>
          </a:p>
          <a:p>
            <a:pPr marL="0" indent="0">
              <a:buFont typeface="Arial" panose="020B0604020202020204" pitchFamily="34" charset="0"/>
              <a:buNone/>
            </a:pPr>
            <a:r>
              <a:rPr lang="en-US" sz="700" dirty="0"/>
              <a:t>Preempted: Coefficient = 0.4116, p-value = 0.0185</a:t>
            </a:r>
          </a:p>
          <a:p>
            <a:pPr marL="0" indent="0">
              <a:buFont typeface="Arial" panose="020B0604020202020204" pitchFamily="34" charset="0"/>
              <a:buNone/>
            </a:pPr>
            <a:r>
              <a:rPr lang="en-US" sz="700" dirty="0"/>
              <a:t>Post: Coefficient = -0.2312, p-value = 0.1378</a:t>
            </a:r>
          </a:p>
          <a:p>
            <a:pPr marL="0" indent="0">
              <a:buFont typeface="Arial" panose="020B0604020202020204" pitchFamily="34" charset="0"/>
              <a:buNone/>
            </a:pPr>
            <a:r>
              <a:rPr lang="en-US" sz="700" dirty="0" err="1"/>
              <a:t>Preemption_Post</a:t>
            </a:r>
            <a:r>
              <a:rPr lang="en-US" sz="700" dirty="0"/>
              <a:t>: Coefficient = 0.1541, p-value = 0.4923</a:t>
            </a:r>
          </a:p>
        </p:txBody>
      </p:sp>
      <p:sp>
        <p:nvSpPr>
          <p:cNvPr id="7" name="TextBox 6">
            <a:extLst>
              <a:ext uri="{FF2B5EF4-FFF2-40B4-BE49-F238E27FC236}">
                <a16:creationId xmlns:a16="http://schemas.microsoft.com/office/drawing/2014/main" id="{72D34183-9D0A-BC6D-6AF7-DAC2663F6A65}"/>
              </a:ext>
            </a:extLst>
          </p:cNvPr>
          <p:cNvSpPr txBox="1"/>
          <p:nvPr/>
        </p:nvSpPr>
        <p:spPr>
          <a:xfrm>
            <a:off x="7350354" y="4151786"/>
            <a:ext cx="4007800" cy="1785104"/>
          </a:xfrm>
          <a:prstGeom prst="rect">
            <a:avLst/>
          </a:prstGeom>
          <a:noFill/>
        </p:spPr>
        <p:txBody>
          <a:bodyPr wrap="square" rtlCol="0">
            <a:spAutoFit/>
          </a:bodyPr>
          <a:lstStyle/>
          <a:p>
            <a:r>
              <a:rPr lang="en-US" sz="1000" b="1" dirty="0"/>
              <a:t>Intercept:</a:t>
            </a:r>
            <a:r>
              <a:rPr lang="en-US" sz="1000" dirty="0"/>
              <a:t> This is the baseline value of the outcome for </a:t>
            </a:r>
            <a:r>
              <a:rPr lang="en-US" sz="1000" b="1" dirty="0"/>
              <a:t>non-preempted     states </a:t>
            </a:r>
            <a:r>
              <a:rPr lang="en-US" sz="1000" dirty="0"/>
              <a:t>in the first 3 years</a:t>
            </a:r>
          </a:p>
          <a:p>
            <a:endParaRPr lang="en-US" sz="1000" dirty="0"/>
          </a:p>
          <a:p>
            <a:r>
              <a:rPr lang="en-US" sz="1000" b="1" dirty="0"/>
              <a:t>Preempted: </a:t>
            </a:r>
            <a:r>
              <a:rPr lang="en-US" sz="1000" dirty="0"/>
              <a:t>This measures the </a:t>
            </a:r>
            <a:r>
              <a:rPr lang="en-US" sz="1000" b="1" dirty="0"/>
              <a:t>difference in the outcome</a:t>
            </a:r>
            <a:r>
              <a:rPr lang="en-US" sz="1000" dirty="0"/>
              <a:t> between preempted and non-preempted states </a:t>
            </a:r>
            <a:r>
              <a:rPr lang="en-US" sz="1000" b="1" dirty="0"/>
              <a:t>in the first 3 years</a:t>
            </a:r>
            <a:r>
              <a:rPr lang="en-US" sz="1000" dirty="0"/>
              <a:t>.</a:t>
            </a:r>
          </a:p>
          <a:p>
            <a:endParaRPr lang="en-US" sz="1000" dirty="0"/>
          </a:p>
          <a:p>
            <a:r>
              <a:rPr lang="en-US" sz="1000" b="1" dirty="0"/>
              <a:t>Post: </a:t>
            </a:r>
            <a:r>
              <a:rPr lang="en-US" sz="1000" dirty="0"/>
              <a:t>This measures the </a:t>
            </a:r>
            <a:r>
              <a:rPr lang="en-US" sz="1000" b="1" dirty="0"/>
              <a:t>difference in the outcome</a:t>
            </a:r>
            <a:r>
              <a:rPr lang="en-US" sz="1000" dirty="0"/>
              <a:t> between the post-period and the pre-period </a:t>
            </a:r>
            <a:r>
              <a:rPr lang="en-US" sz="1000" b="1" dirty="0"/>
              <a:t>for non-preempted states</a:t>
            </a:r>
            <a:r>
              <a:rPr lang="en-US" sz="1000" dirty="0"/>
              <a:t>.</a:t>
            </a:r>
          </a:p>
          <a:p>
            <a:endParaRPr lang="en-US" sz="1000" dirty="0"/>
          </a:p>
          <a:p>
            <a:r>
              <a:rPr lang="en-US" sz="1000" b="1" dirty="0" err="1"/>
              <a:t>Preemption_Post</a:t>
            </a:r>
            <a:r>
              <a:rPr lang="en-US" sz="1000" b="1" dirty="0"/>
              <a:t>:</a:t>
            </a:r>
            <a:r>
              <a:rPr lang="en-US" sz="1000" dirty="0"/>
              <a:t> This measures the </a:t>
            </a:r>
            <a:r>
              <a:rPr lang="en-US" sz="1000" b="1" dirty="0"/>
              <a:t>additional effect of preemption in the post-period</a:t>
            </a:r>
            <a:r>
              <a:rPr lang="en-US" sz="1000" dirty="0"/>
              <a:t> beyond the individual effects of preemption and time.</a:t>
            </a:r>
          </a:p>
        </p:txBody>
      </p:sp>
      <p:sp>
        <p:nvSpPr>
          <p:cNvPr id="4" name="TextBox 3">
            <a:extLst>
              <a:ext uri="{FF2B5EF4-FFF2-40B4-BE49-F238E27FC236}">
                <a16:creationId xmlns:a16="http://schemas.microsoft.com/office/drawing/2014/main" id="{714D3FFC-7F4E-2D1D-C1B7-59961F67087F}"/>
              </a:ext>
            </a:extLst>
          </p:cNvPr>
          <p:cNvSpPr txBox="1"/>
          <p:nvPr/>
        </p:nvSpPr>
        <p:spPr>
          <a:xfrm>
            <a:off x="5605273" y="6379576"/>
            <a:ext cx="685800" cy="369332"/>
          </a:xfrm>
          <a:prstGeom prst="rect">
            <a:avLst/>
          </a:prstGeom>
          <a:noFill/>
        </p:spPr>
        <p:txBody>
          <a:bodyPr wrap="square" rtlCol="0">
            <a:spAutoFit/>
          </a:bodyPr>
          <a:lstStyle/>
          <a:p>
            <a:pPr algn="ctr"/>
            <a:r>
              <a:rPr lang="en-US" dirty="0"/>
              <a:t>17</a:t>
            </a:r>
          </a:p>
        </p:txBody>
      </p:sp>
    </p:spTree>
    <p:extLst>
      <p:ext uri="{BB962C8B-B14F-4D97-AF65-F5344CB8AC3E}">
        <p14:creationId xmlns:p14="http://schemas.microsoft.com/office/powerpoint/2010/main" val="3672698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CC91-1C5B-D7BA-8AC8-EB43A99E73EB}"/>
              </a:ext>
            </a:extLst>
          </p:cNvPr>
          <p:cNvSpPr>
            <a:spLocks noGrp="1"/>
          </p:cNvSpPr>
          <p:nvPr>
            <p:ph type="title"/>
          </p:nvPr>
        </p:nvSpPr>
        <p:spPr/>
        <p:txBody>
          <a:bodyPr>
            <a:normAutofit fontScale="90000"/>
          </a:bodyPr>
          <a:lstStyle/>
          <a:p>
            <a:r>
              <a:rPr lang="en-US" b="1" dirty="0"/>
              <a:t>Socio-economic Outcomes in Preempted/Non-preempted States</a:t>
            </a:r>
            <a:endParaRPr lang="en-US" dirty="0"/>
          </a:p>
        </p:txBody>
      </p:sp>
      <p:pic>
        <p:nvPicPr>
          <p:cNvPr id="6" name="Content Placeholder 5">
            <a:extLst>
              <a:ext uri="{FF2B5EF4-FFF2-40B4-BE49-F238E27FC236}">
                <a16:creationId xmlns:a16="http://schemas.microsoft.com/office/drawing/2014/main" id="{DBC2374D-A4BF-6D51-08D9-B7E19CCD8B7C}"/>
              </a:ext>
            </a:extLst>
          </p:cNvPr>
          <p:cNvPicPr>
            <a:picLocks noGrp="1" noChangeAspect="1"/>
          </p:cNvPicPr>
          <p:nvPr>
            <p:ph sz="half" idx="1"/>
          </p:nvPr>
        </p:nvPicPr>
        <p:blipFill>
          <a:blip r:embed="rId2"/>
          <a:stretch>
            <a:fillRect/>
          </a:stretch>
        </p:blipFill>
        <p:spPr>
          <a:xfrm>
            <a:off x="91720" y="1478281"/>
            <a:ext cx="6820251" cy="4648200"/>
          </a:xfrm>
        </p:spPr>
      </p:pic>
      <p:pic>
        <p:nvPicPr>
          <p:cNvPr id="8" name="Picture 7">
            <a:extLst>
              <a:ext uri="{FF2B5EF4-FFF2-40B4-BE49-F238E27FC236}">
                <a16:creationId xmlns:a16="http://schemas.microsoft.com/office/drawing/2014/main" id="{B678B600-A712-984B-067D-6D127180169D}"/>
              </a:ext>
            </a:extLst>
          </p:cNvPr>
          <p:cNvPicPr>
            <a:picLocks noChangeAspect="1"/>
          </p:cNvPicPr>
          <p:nvPr/>
        </p:nvPicPr>
        <p:blipFill>
          <a:blip r:embed="rId3"/>
          <a:stretch>
            <a:fillRect/>
          </a:stretch>
        </p:blipFill>
        <p:spPr>
          <a:xfrm>
            <a:off x="7003411" y="1478280"/>
            <a:ext cx="5168236" cy="4648200"/>
          </a:xfrm>
          <a:prstGeom prst="rect">
            <a:avLst/>
          </a:prstGeom>
        </p:spPr>
      </p:pic>
      <p:sp>
        <p:nvSpPr>
          <p:cNvPr id="3" name="TextBox 2">
            <a:extLst>
              <a:ext uri="{FF2B5EF4-FFF2-40B4-BE49-F238E27FC236}">
                <a16:creationId xmlns:a16="http://schemas.microsoft.com/office/drawing/2014/main" id="{527B4514-5861-9ACC-45AE-5C36643E6A0F}"/>
              </a:ext>
            </a:extLst>
          </p:cNvPr>
          <p:cNvSpPr txBox="1"/>
          <p:nvPr/>
        </p:nvSpPr>
        <p:spPr>
          <a:xfrm>
            <a:off x="5605273" y="6379576"/>
            <a:ext cx="685800" cy="369332"/>
          </a:xfrm>
          <a:prstGeom prst="rect">
            <a:avLst/>
          </a:prstGeom>
          <a:noFill/>
        </p:spPr>
        <p:txBody>
          <a:bodyPr wrap="square" rtlCol="0">
            <a:spAutoFit/>
          </a:bodyPr>
          <a:lstStyle/>
          <a:p>
            <a:pPr algn="ctr"/>
            <a:r>
              <a:rPr lang="en-US" dirty="0"/>
              <a:t>18</a:t>
            </a:r>
          </a:p>
        </p:txBody>
      </p:sp>
    </p:spTree>
    <p:extLst>
      <p:ext uri="{BB962C8B-B14F-4D97-AF65-F5344CB8AC3E}">
        <p14:creationId xmlns:p14="http://schemas.microsoft.com/office/powerpoint/2010/main" val="1516037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2CA1D-244D-5EF4-187A-FB7CE65B620A}"/>
              </a:ext>
            </a:extLst>
          </p:cNvPr>
          <p:cNvSpPr>
            <a:spLocks noGrp="1"/>
          </p:cNvSpPr>
          <p:nvPr>
            <p:ph type="title"/>
          </p:nvPr>
        </p:nvSpPr>
        <p:spPr/>
        <p:txBody>
          <a:bodyPr>
            <a:normAutofit fontScale="90000"/>
          </a:bodyPr>
          <a:lstStyle/>
          <a:p>
            <a:r>
              <a:rPr lang="en-US" b="1" dirty="0"/>
              <a:t>Socio-economic Outcomes in Preempted/Non-preempted States</a:t>
            </a:r>
            <a:endParaRPr lang="en-US" dirty="0"/>
          </a:p>
        </p:txBody>
      </p:sp>
      <p:sp>
        <p:nvSpPr>
          <p:cNvPr id="3" name="Content Placeholder 2">
            <a:extLst>
              <a:ext uri="{FF2B5EF4-FFF2-40B4-BE49-F238E27FC236}">
                <a16:creationId xmlns:a16="http://schemas.microsoft.com/office/drawing/2014/main" id="{2B5929E6-FD3C-8F01-0BB9-E8F894FD2D1E}"/>
              </a:ext>
            </a:extLst>
          </p:cNvPr>
          <p:cNvSpPr>
            <a:spLocks noGrp="1"/>
          </p:cNvSpPr>
          <p:nvPr>
            <p:ph sz="half" idx="1"/>
          </p:nvPr>
        </p:nvSpPr>
        <p:spPr>
          <a:xfrm>
            <a:off x="338470" y="1502734"/>
            <a:ext cx="2834640" cy="4792093"/>
          </a:xfrm>
        </p:spPr>
        <p:txBody>
          <a:bodyPr>
            <a:normAutofit/>
          </a:bodyPr>
          <a:lstStyle/>
          <a:p>
            <a:pPr marL="0" indent="0">
              <a:lnSpc>
                <a:spcPct val="50000"/>
              </a:lnSpc>
              <a:buNone/>
            </a:pPr>
            <a:r>
              <a:rPr lang="en-US" sz="700" b="1" dirty="0"/>
              <a:t>Results for Suicide Rate per 100k:</a:t>
            </a:r>
          </a:p>
          <a:p>
            <a:pPr marL="0" indent="0">
              <a:lnSpc>
                <a:spcPct val="50000"/>
              </a:lnSpc>
              <a:buNone/>
            </a:pPr>
            <a:r>
              <a:rPr lang="en-US" sz="700" dirty="0"/>
              <a:t>Intercept: Coefficient = 12.7392, p-value = 0.0000</a:t>
            </a:r>
          </a:p>
          <a:p>
            <a:pPr marL="0" indent="0">
              <a:lnSpc>
                <a:spcPct val="50000"/>
              </a:lnSpc>
              <a:buNone/>
            </a:pPr>
            <a:r>
              <a:rPr lang="en-US" sz="700" dirty="0"/>
              <a:t>Preempted: Coefficient = 1.9365, p-value = 0.0167</a:t>
            </a:r>
          </a:p>
          <a:p>
            <a:pPr marL="0" indent="0">
              <a:lnSpc>
                <a:spcPct val="50000"/>
              </a:lnSpc>
              <a:buNone/>
            </a:pPr>
            <a:r>
              <a:rPr lang="en-US" sz="700" dirty="0"/>
              <a:t>Post: Coefficient = 1.0424, p-value = 0.1484</a:t>
            </a:r>
          </a:p>
          <a:p>
            <a:pPr marL="0" indent="0">
              <a:lnSpc>
                <a:spcPct val="50000"/>
              </a:lnSpc>
              <a:buNone/>
            </a:pPr>
            <a:r>
              <a:rPr lang="en-US" sz="700" dirty="0" err="1"/>
              <a:t>Preemption_Post</a:t>
            </a:r>
            <a:r>
              <a:rPr lang="en-US" sz="700" dirty="0"/>
              <a:t>: Coefficient = -0.3839, p-value = 0.7118</a:t>
            </a:r>
          </a:p>
          <a:p>
            <a:pPr marL="0" indent="0">
              <a:lnSpc>
                <a:spcPct val="50000"/>
              </a:lnSpc>
              <a:buNone/>
            </a:pPr>
            <a:endParaRPr lang="en-US" sz="700" dirty="0"/>
          </a:p>
          <a:p>
            <a:pPr marL="0" indent="0">
              <a:lnSpc>
                <a:spcPct val="50000"/>
              </a:lnSpc>
              <a:buNone/>
            </a:pPr>
            <a:endParaRPr lang="en-US" sz="700" dirty="0"/>
          </a:p>
          <a:p>
            <a:pPr marL="0" indent="0">
              <a:lnSpc>
                <a:spcPct val="50000"/>
              </a:lnSpc>
              <a:buNone/>
            </a:pPr>
            <a:r>
              <a:rPr lang="en-US" sz="700" b="1" dirty="0"/>
              <a:t>Results for Firearm Mortality Rate per 100k:</a:t>
            </a:r>
          </a:p>
          <a:p>
            <a:pPr marL="0" indent="0">
              <a:lnSpc>
                <a:spcPct val="50000"/>
              </a:lnSpc>
              <a:buNone/>
            </a:pPr>
            <a:r>
              <a:rPr lang="en-US" sz="700" dirty="0"/>
              <a:t>Intercept: Coefficient = 9.7914, p-value = 0.0000</a:t>
            </a:r>
          </a:p>
          <a:p>
            <a:pPr marL="0" indent="0">
              <a:lnSpc>
                <a:spcPct val="50000"/>
              </a:lnSpc>
              <a:buNone/>
            </a:pPr>
            <a:r>
              <a:rPr lang="en-US" sz="700" dirty="0"/>
              <a:t>Preempted: Coefficient = 3.4735, p-value = 0.0002</a:t>
            </a:r>
          </a:p>
          <a:p>
            <a:pPr marL="0" indent="0">
              <a:lnSpc>
                <a:spcPct val="50000"/>
              </a:lnSpc>
              <a:buNone/>
            </a:pPr>
            <a:r>
              <a:rPr lang="en-US" sz="700" dirty="0"/>
              <a:t>Post: Coefficient = 0.4907, p-value = 0.5495</a:t>
            </a:r>
          </a:p>
          <a:p>
            <a:pPr marL="0" indent="0">
              <a:lnSpc>
                <a:spcPct val="50000"/>
              </a:lnSpc>
              <a:buNone/>
            </a:pPr>
            <a:r>
              <a:rPr lang="en-US" sz="700" dirty="0" err="1"/>
              <a:t>Preemption_Post</a:t>
            </a:r>
            <a:r>
              <a:rPr lang="en-US" sz="700" dirty="0"/>
              <a:t>: Coefficient = 0.0269, p-value = 0.9819</a:t>
            </a:r>
          </a:p>
          <a:p>
            <a:pPr marL="0" indent="0">
              <a:lnSpc>
                <a:spcPct val="50000"/>
              </a:lnSpc>
              <a:buNone/>
            </a:pPr>
            <a:endParaRPr lang="en-US" sz="700" dirty="0"/>
          </a:p>
          <a:p>
            <a:pPr marL="0" indent="0">
              <a:lnSpc>
                <a:spcPct val="50000"/>
              </a:lnSpc>
              <a:buNone/>
            </a:pPr>
            <a:endParaRPr lang="en-US" sz="700" dirty="0"/>
          </a:p>
          <a:p>
            <a:pPr marL="0" indent="0">
              <a:lnSpc>
                <a:spcPct val="50000"/>
              </a:lnSpc>
              <a:buNone/>
            </a:pPr>
            <a:r>
              <a:rPr lang="en-US" sz="700" b="1" dirty="0"/>
              <a:t>Results for Violent Crime Mortality Rate per 100k:</a:t>
            </a:r>
          </a:p>
          <a:p>
            <a:pPr marL="0" indent="0">
              <a:lnSpc>
                <a:spcPct val="50000"/>
              </a:lnSpc>
              <a:buNone/>
            </a:pPr>
            <a:r>
              <a:rPr lang="en-US" sz="700" dirty="0"/>
              <a:t>Intercept: Coefficient = 4.7176, p-value = 0.0000</a:t>
            </a:r>
          </a:p>
          <a:p>
            <a:pPr marL="0" indent="0">
              <a:lnSpc>
                <a:spcPct val="50000"/>
              </a:lnSpc>
              <a:buNone/>
            </a:pPr>
            <a:r>
              <a:rPr lang="en-US" sz="700" dirty="0"/>
              <a:t>Preempted: Coefficient = 1.3488, p-value = 0.0244</a:t>
            </a:r>
          </a:p>
          <a:p>
            <a:pPr marL="0" indent="0">
              <a:lnSpc>
                <a:spcPct val="50000"/>
              </a:lnSpc>
              <a:buNone/>
            </a:pPr>
            <a:r>
              <a:rPr lang="en-US" sz="700" dirty="0"/>
              <a:t>Post: Coefficient = -0.3024, p-value = 0.5709</a:t>
            </a:r>
          </a:p>
          <a:p>
            <a:pPr marL="0" indent="0">
              <a:lnSpc>
                <a:spcPct val="50000"/>
              </a:lnSpc>
              <a:buNone/>
            </a:pPr>
            <a:r>
              <a:rPr lang="en-US" sz="700" dirty="0" err="1"/>
              <a:t>Preemption_Post</a:t>
            </a:r>
            <a:r>
              <a:rPr lang="en-US" sz="700" dirty="0"/>
              <a:t>: Coefficient = 0.5863, p-value = 0.4465</a:t>
            </a:r>
          </a:p>
          <a:p>
            <a:pPr marL="0" indent="0">
              <a:lnSpc>
                <a:spcPct val="50000"/>
              </a:lnSpc>
              <a:buNone/>
            </a:pPr>
            <a:endParaRPr lang="en-US" sz="700" dirty="0"/>
          </a:p>
          <a:p>
            <a:pPr marL="0" indent="0">
              <a:lnSpc>
                <a:spcPct val="50000"/>
              </a:lnSpc>
              <a:buNone/>
            </a:pPr>
            <a:endParaRPr lang="en-US" sz="700" dirty="0"/>
          </a:p>
          <a:p>
            <a:pPr marL="0" indent="0">
              <a:lnSpc>
                <a:spcPct val="50000"/>
              </a:lnSpc>
              <a:buNone/>
            </a:pPr>
            <a:r>
              <a:rPr lang="en-US" sz="700" b="1" dirty="0"/>
              <a:t>Results for Drug Deaths Rate per 100k:</a:t>
            </a:r>
          </a:p>
          <a:p>
            <a:pPr marL="0" indent="0">
              <a:lnSpc>
                <a:spcPct val="50000"/>
              </a:lnSpc>
              <a:buNone/>
            </a:pPr>
            <a:r>
              <a:rPr lang="en-US" sz="700" dirty="0"/>
              <a:t>Intercept: Coefficient = 13.4913, p-value = 0.0000</a:t>
            </a:r>
          </a:p>
          <a:p>
            <a:pPr marL="0" indent="0">
              <a:lnSpc>
                <a:spcPct val="50000"/>
              </a:lnSpc>
              <a:buNone/>
            </a:pPr>
            <a:r>
              <a:rPr lang="en-US" sz="700" dirty="0"/>
              <a:t>Preempted: Coefficient = 0.4377, p-value = 0.7781</a:t>
            </a:r>
          </a:p>
          <a:p>
            <a:pPr marL="0" indent="0">
              <a:lnSpc>
                <a:spcPct val="50000"/>
              </a:lnSpc>
              <a:buNone/>
            </a:pPr>
            <a:r>
              <a:rPr lang="en-US" sz="700" dirty="0"/>
              <a:t>Post: Coefficient = 1.9626, p-value = 0.1585</a:t>
            </a:r>
          </a:p>
          <a:p>
            <a:pPr marL="0" indent="0">
              <a:lnSpc>
                <a:spcPct val="50000"/>
              </a:lnSpc>
              <a:buNone/>
            </a:pPr>
            <a:r>
              <a:rPr lang="en-US" sz="700" dirty="0" err="1"/>
              <a:t>Preemption_Post</a:t>
            </a:r>
            <a:r>
              <a:rPr lang="en-US" sz="700" dirty="0"/>
              <a:t>: Coefficient = 1.3567, p-value = 0.4988</a:t>
            </a:r>
          </a:p>
        </p:txBody>
      </p:sp>
      <p:sp>
        <p:nvSpPr>
          <p:cNvPr id="5" name="Content Placeholder 2">
            <a:extLst>
              <a:ext uri="{FF2B5EF4-FFF2-40B4-BE49-F238E27FC236}">
                <a16:creationId xmlns:a16="http://schemas.microsoft.com/office/drawing/2014/main" id="{D26C6745-8720-41DB-D9C9-327DED262510}"/>
              </a:ext>
            </a:extLst>
          </p:cNvPr>
          <p:cNvSpPr txBox="1">
            <a:spLocks/>
          </p:cNvSpPr>
          <p:nvPr/>
        </p:nvSpPr>
        <p:spPr>
          <a:xfrm>
            <a:off x="2722289" y="1502733"/>
            <a:ext cx="2834640" cy="479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US" sz="700" b="1" dirty="0"/>
              <a:t>Results for White perc:</a:t>
            </a:r>
          </a:p>
          <a:p>
            <a:pPr marL="0" indent="0">
              <a:lnSpc>
                <a:spcPct val="50000"/>
              </a:lnSpc>
              <a:buFont typeface="Arial" panose="020B0604020202020204" pitchFamily="34" charset="0"/>
              <a:buNone/>
            </a:pPr>
            <a:r>
              <a:rPr lang="en-US" sz="700" dirty="0"/>
              <a:t>Intercept: Coefficient = 71.1435, p-value = 0.0000</a:t>
            </a:r>
          </a:p>
          <a:p>
            <a:pPr marL="0" indent="0">
              <a:lnSpc>
                <a:spcPct val="50000"/>
              </a:lnSpc>
              <a:buFont typeface="Arial" panose="020B0604020202020204" pitchFamily="34" charset="0"/>
              <a:buNone/>
            </a:pPr>
            <a:r>
              <a:rPr lang="en-US" sz="700" dirty="0"/>
              <a:t>Preempted: Coefficient = 4.6278, p-value = 0.1330</a:t>
            </a:r>
          </a:p>
          <a:p>
            <a:pPr marL="0" indent="0">
              <a:lnSpc>
                <a:spcPct val="50000"/>
              </a:lnSpc>
              <a:buFont typeface="Arial" panose="020B0604020202020204" pitchFamily="34" charset="0"/>
              <a:buNone/>
            </a:pPr>
            <a:r>
              <a:rPr lang="en-US" sz="700" dirty="0"/>
              <a:t>Post: Coefficient = 0.0000, p-value = 1.0000</a:t>
            </a:r>
          </a:p>
          <a:p>
            <a:pPr marL="0" indent="0">
              <a:lnSpc>
                <a:spcPct val="50000"/>
              </a:lnSpc>
              <a:buFont typeface="Arial" panose="020B0604020202020204" pitchFamily="34" charset="0"/>
              <a:buNone/>
            </a:pPr>
            <a:r>
              <a:rPr lang="en-US" sz="700" dirty="0" err="1"/>
              <a:t>Preemption_Post</a:t>
            </a:r>
            <a:r>
              <a:rPr lang="en-US" sz="700" dirty="0"/>
              <a:t>: Coefficient = -0.0000, p-value = 1.0000</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Black perc:</a:t>
            </a:r>
          </a:p>
          <a:p>
            <a:pPr marL="0" indent="0">
              <a:lnSpc>
                <a:spcPct val="50000"/>
              </a:lnSpc>
              <a:buFont typeface="Arial" panose="020B0604020202020204" pitchFamily="34" charset="0"/>
              <a:buNone/>
            </a:pPr>
            <a:r>
              <a:rPr lang="en-US" sz="700" dirty="0"/>
              <a:t>Intercept: Coefficient = 9.1231, p-value = 0.0000</a:t>
            </a:r>
          </a:p>
          <a:p>
            <a:pPr marL="0" indent="0">
              <a:lnSpc>
                <a:spcPct val="50000"/>
              </a:lnSpc>
              <a:buFont typeface="Arial" panose="020B0604020202020204" pitchFamily="34" charset="0"/>
              <a:buNone/>
            </a:pPr>
            <a:r>
              <a:rPr lang="en-US" sz="700" dirty="0"/>
              <a:t>Preempted: Coefficient = 3.0311, p-value = 0.1082</a:t>
            </a:r>
          </a:p>
          <a:p>
            <a:pPr marL="0" indent="0">
              <a:lnSpc>
                <a:spcPct val="50000"/>
              </a:lnSpc>
              <a:buFont typeface="Arial" panose="020B0604020202020204" pitchFamily="34" charset="0"/>
              <a:buNone/>
            </a:pPr>
            <a:r>
              <a:rPr lang="en-US" sz="700" dirty="0"/>
              <a:t>Post: Coefficient = 0.0000, p-value = 1.0000</a:t>
            </a:r>
          </a:p>
          <a:p>
            <a:pPr marL="0" indent="0">
              <a:lnSpc>
                <a:spcPct val="50000"/>
              </a:lnSpc>
              <a:buFont typeface="Arial" panose="020B0604020202020204" pitchFamily="34" charset="0"/>
              <a:buNone/>
            </a:pPr>
            <a:r>
              <a:rPr lang="en-US" sz="700" dirty="0" err="1"/>
              <a:t>Preemption_Post</a:t>
            </a:r>
            <a:r>
              <a:rPr lang="en-US" sz="700" dirty="0"/>
              <a:t>: Coefficient = 0.0000, p-value = 1.0000</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Care Avoided due to Cost perc:</a:t>
            </a:r>
          </a:p>
          <a:p>
            <a:pPr marL="0" indent="0">
              <a:lnSpc>
                <a:spcPct val="50000"/>
              </a:lnSpc>
              <a:buFont typeface="Arial" panose="020B0604020202020204" pitchFamily="34" charset="0"/>
              <a:buNone/>
            </a:pPr>
            <a:r>
              <a:rPr lang="en-US" sz="700" dirty="0"/>
              <a:t>Intercept: Coefficient = 12.4000, p-value = 0.0000</a:t>
            </a:r>
          </a:p>
          <a:p>
            <a:pPr marL="0" indent="0">
              <a:lnSpc>
                <a:spcPct val="50000"/>
              </a:lnSpc>
              <a:buFont typeface="Arial" panose="020B0604020202020204" pitchFamily="34" charset="0"/>
              <a:buNone/>
            </a:pPr>
            <a:r>
              <a:rPr lang="en-US" sz="700" dirty="0"/>
              <a:t>Preempted: Coefficient = 2.0083, p-value = 0.0013</a:t>
            </a:r>
          </a:p>
          <a:p>
            <a:pPr marL="0" indent="0">
              <a:lnSpc>
                <a:spcPct val="50000"/>
              </a:lnSpc>
              <a:buFont typeface="Arial" panose="020B0604020202020204" pitchFamily="34" charset="0"/>
              <a:buNone/>
            </a:pPr>
            <a:r>
              <a:rPr lang="en-US" sz="700" dirty="0"/>
              <a:t>Post: Coefficient = 1.1679, p-value = 0.0358</a:t>
            </a:r>
          </a:p>
          <a:p>
            <a:pPr marL="0" indent="0">
              <a:lnSpc>
                <a:spcPct val="50000"/>
              </a:lnSpc>
              <a:buFont typeface="Arial" panose="020B0604020202020204" pitchFamily="34" charset="0"/>
              <a:buNone/>
            </a:pPr>
            <a:r>
              <a:rPr lang="en-US" sz="700" dirty="0" err="1"/>
              <a:t>Preemption_Post</a:t>
            </a:r>
            <a:r>
              <a:rPr lang="en-US" sz="700" dirty="0"/>
              <a:t>: Coefficient = -1.4235, p-value = 0.0759</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Income inequality:</a:t>
            </a:r>
          </a:p>
          <a:p>
            <a:pPr marL="0" indent="0">
              <a:lnSpc>
                <a:spcPct val="50000"/>
              </a:lnSpc>
              <a:buFont typeface="Arial" panose="020B0604020202020204" pitchFamily="34" charset="0"/>
              <a:buNone/>
            </a:pPr>
            <a:r>
              <a:rPr lang="en-US" sz="700" dirty="0"/>
              <a:t>Intercept: Coefficient = 0.4589, p-value = 0.0000</a:t>
            </a:r>
          </a:p>
          <a:p>
            <a:pPr marL="0" indent="0">
              <a:lnSpc>
                <a:spcPct val="50000"/>
              </a:lnSpc>
              <a:buFont typeface="Arial" panose="020B0604020202020204" pitchFamily="34" charset="0"/>
              <a:buNone/>
            </a:pPr>
            <a:r>
              <a:rPr lang="en-US" sz="700" dirty="0"/>
              <a:t>Preempted: Coefficient = -0.0228, p-value = 0.0151</a:t>
            </a:r>
          </a:p>
          <a:p>
            <a:pPr marL="0" indent="0">
              <a:lnSpc>
                <a:spcPct val="50000"/>
              </a:lnSpc>
              <a:buFont typeface="Arial" panose="020B0604020202020204" pitchFamily="34" charset="0"/>
              <a:buNone/>
            </a:pPr>
            <a:r>
              <a:rPr lang="en-US" sz="700" dirty="0"/>
              <a:t>Post: Coefficient = -0.0199, p-value = 0.0176</a:t>
            </a:r>
          </a:p>
          <a:p>
            <a:pPr marL="0" indent="0">
              <a:lnSpc>
                <a:spcPct val="50000"/>
              </a:lnSpc>
              <a:buFont typeface="Arial" panose="020B0604020202020204" pitchFamily="34" charset="0"/>
              <a:buNone/>
            </a:pPr>
            <a:r>
              <a:rPr lang="en-US" sz="700" dirty="0" err="1"/>
              <a:t>Preemption_Post</a:t>
            </a:r>
            <a:r>
              <a:rPr lang="en-US" sz="700" dirty="0"/>
              <a:t>: Coefficient = 0.0326, p-value = 0.0073</a:t>
            </a:r>
          </a:p>
        </p:txBody>
      </p:sp>
      <p:sp>
        <p:nvSpPr>
          <p:cNvPr id="6" name="Content Placeholder 2">
            <a:extLst>
              <a:ext uri="{FF2B5EF4-FFF2-40B4-BE49-F238E27FC236}">
                <a16:creationId xmlns:a16="http://schemas.microsoft.com/office/drawing/2014/main" id="{86F19CB2-44DB-8859-039F-BCD3FD60D4EB}"/>
              </a:ext>
            </a:extLst>
          </p:cNvPr>
          <p:cNvSpPr txBox="1">
            <a:spLocks/>
          </p:cNvSpPr>
          <p:nvPr/>
        </p:nvSpPr>
        <p:spPr>
          <a:xfrm>
            <a:off x="5118513" y="1502734"/>
            <a:ext cx="2834640" cy="479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US" sz="700" b="1" dirty="0"/>
              <a:t>Results for Median Income:</a:t>
            </a:r>
          </a:p>
          <a:p>
            <a:pPr marL="0" indent="0">
              <a:lnSpc>
                <a:spcPct val="50000"/>
              </a:lnSpc>
              <a:buFont typeface="Arial" panose="020B0604020202020204" pitchFamily="34" charset="0"/>
              <a:buNone/>
            </a:pPr>
            <a:r>
              <a:rPr lang="en-US" sz="700" dirty="0"/>
              <a:t>Intercept: Coefficient = 49569.0962, p-value = 0.0000</a:t>
            </a:r>
          </a:p>
          <a:p>
            <a:pPr marL="0" indent="0">
              <a:lnSpc>
                <a:spcPct val="50000"/>
              </a:lnSpc>
              <a:buFont typeface="Arial" panose="020B0604020202020204" pitchFamily="34" charset="0"/>
              <a:buNone/>
            </a:pPr>
            <a:r>
              <a:rPr lang="en-US" sz="700" dirty="0"/>
              <a:t>Preempted: Coefficient = -5194.7628, p-value = 0.0006</a:t>
            </a:r>
          </a:p>
          <a:p>
            <a:pPr marL="0" indent="0">
              <a:lnSpc>
                <a:spcPct val="50000"/>
              </a:lnSpc>
              <a:buFont typeface="Arial" panose="020B0604020202020204" pitchFamily="34" charset="0"/>
              <a:buNone/>
            </a:pPr>
            <a:r>
              <a:rPr lang="en-US" sz="700" dirty="0"/>
              <a:t>Post: Coefficient = 1950.5962, p-value = 0.1468</a:t>
            </a:r>
          </a:p>
          <a:p>
            <a:pPr marL="0" indent="0">
              <a:lnSpc>
                <a:spcPct val="50000"/>
              </a:lnSpc>
              <a:buFont typeface="Arial" panose="020B0604020202020204" pitchFamily="34" charset="0"/>
              <a:buNone/>
            </a:pPr>
            <a:r>
              <a:rPr lang="en-US" sz="700" dirty="0" err="1"/>
              <a:t>Preemption_Post</a:t>
            </a:r>
            <a:r>
              <a:rPr lang="en-US" sz="700" dirty="0"/>
              <a:t>: Coefficient = 408.3900, p-value = 0.8329</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Cost of Living Index:</a:t>
            </a:r>
          </a:p>
          <a:p>
            <a:pPr marL="0" indent="0">
              <a:lnSpc>
                <a:spcPct val="50000"/>
              </a:lnSpc>
              <a:buFont typeface="Arial" panose="020B0604020202020204" pitchFamily="34" charset="0"/>
              <a:buNone/>
            </a:pPr>
            <a:r>
              <a:rPr lang="en-US" sz="700" dirty="0"/>
              <a:t>Intercept: Coefficient = 13.4096, p-value = 0.0000</a:t>
            </a:r>
          </a:p>
          <a:p>
            <a:pPr marL="0" indent="0">
              <a:lnSpc>
                <a:spcPct val="50000"/>
              </a:lnSpc>
              <a:buFont typeface="Arial" panose="020B0604020202020204" pitchFamily="34" charset="0"/>
              <a:buNone/>
            </a:pPr>
            <a:r>
              <a:rPr lang="en-US" sz="700" dirty="0"/>
              <a:t>Preempted: Coefficient = -0.9784, p-value = 0.1043</a:t>
            </a:r>
          </a:p>
          <a:p>
            <a:pPr marL="0" indent="0">
              <a:lnSpc>
                <a:spcPct val="50000"/>
              </a:lnSpc>
              <a:buFont typeface="Arial" panose="020B0604020202020204" pitchFamily="34" charset="0"/>
              <a:buNone/>
            </a:pPr>
            <a:r>
              <a:rPr lang="en-US" sz="700" dirty="0"/>
              <a:t>Post: Coefficient = 0.4006, p-value = 0.4561</a:t>
            </a:r>
          </a:p>
          <a:p>
            <a:pPr marL="0" indent="0">
              <a:lnSpc>
                <a:spcPct val="50000"/>
              </a:lnSpc>
              <a:buFont typeface="Arial" panose="020B0604020202020204" pitchFamily="34" charset="0"/>
              <a:buNone/>
            </a:pPr>
            <a:r>
              <a:rPr lang="en-US" sz="700" dirty="0" err="1"/>
              <a:t>Preemption_Post</a:t>
            </a:r>
            <a:r>
              <a:rPr lang="en-US" sz="700" dirty="0"/>
              <a:t>: Coefficient = -0.0319, p-value = 0.9672</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Food Insecurity Perc:</a:t>
            </a:r>
          </a:p>
          <a:p>
            <a:pPr marL="0" indent="0">
              <a:lnSpc>
                <a:spcPct val="50000"/>
              </a:lnSpc>
              <a:buFont typeface="Arial" panose="020B0604020202020204" pitchFamily="34" charset="0"/>
              <a:buNone/>
            </a:pPr>
            <a:r>
              <a:rPr lang="en-US" sz="700" dirty="0"/>
              <a:t>Intercept: Coefficient = 10.5154, p-value = 0.0000</a:t>
            </a:r>
          </a:p>
          <a:p>
            <a:pPr marL="0" indent="0">
              <a:lnSpc>
                <a:spcPct val="50000"/>
              </a:lnSpc>
              <a:buFont typeface="Arial" panose="020B0604020202020204" pitchFamily="34" charset="0"/>
              <a:buNone/>
            </a:pPr>
            <a:r>
              <a:rPr lang="en-US" sz="700" dirty="0"/>
              <a:t>Preempted: Coefficient = 2.3742, p-value = 0.0000</a:t>
            </a:r>
          </a:p>
          <a:p>
            <a:pPr marL="0" indent="0">
              <a:lnSpc>
                <a:spcPct val="50000"/>
              </a:lnSpc>
              <a:buFont typeface="Arial" panose="020B0604020202020204" pitchFamily="34" charset="0"/>
              <a:buNone/>
            </a:pPr>
            <a:r>
              <a:rPr lang="en-US" sz="700" dirty="0"/>
              <a:t>Post: Coefficient = 1.2205, p-value = 0.0026</a:t>
            </a:r>
          </a:p>
          <a:p>
            <a:pPr marL="0" indent="0">
              <a:lnSpc>
                <a:spcPct val="50000"/>
              </a:lnSpc>
              <a:buFont typeface="Arial" panose="020B0604020202020204" pitchFamily="34" charset="0"/>
              <a:buNone/>
            </a:pPr>
            <a:r>
              <a:rPr lang="en-US" sz="700" dirty="0" err="1"/>
              <a:t>Preemption_Post</a:t>
            </a:r>
            <a:r>
              <a:rPr lang="en-US" sz="700" dirty="0"/>
              <a:t>: Coefficient = -1.3198, p-value = 0.0232</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Housing Insecurity:</a:t>
            </a:r>
          </a:p>
          <a:p>
            <a:pPr marL="0" indent="0">
              <a:lnSpc>
                <a:spcPct val="50000"/>
              </a:lnSpc>
              <a:buFont typeface="Arial" panose="020B0604020202020204" pitchFamily="34" charset="0"/>
              <a:buNone/>
            </a:pPr>
            <a:r>
              <a:rPr lang="en-US" sz="700" dirty="0"/>
              <a:t>Intercept: Coefficient = 9.4983, p-value = 0.0000</a:t>
            </a:r>
          </a:p>
          <a:p>
            <a:pPr marL="0" indent="0">
              <a:lnSpc>
                <a:spcPct val="50000"/>
              </a:lnSpc>
              <a:buFont typeface="Arial" panose="020B0604020202020204" pitchFamily="34" charset="0"/>
              <a:buNone/>
            </a:pPr>
            <a:r>
              <a:rPr lang="en-US" sz="700" dirty="0"/>
              <a:t>Preempted: Coefficient = -1.7489, p-value = 0.4901</a:t>
            </a:r>
          </a:p>
          <a:p>
            <a:pPr marL="0" indent="0">
              <a:lnSpc>
                <a:spcPct val="50000"/>
              </a:lnSpc>
              <a:buFont typeface="Arial" panose="020B0604020202020204" pitchFamily="34" charset="0"/>
              <a:buNone/>
            </a:pPr>
            <a:r>
              <a:rPr lang="en-US" sz="700" dirty="0"/>
              <a:t>Post: Coefficient = 0.0271, p-value = 0.9904</a:t>
            </a:r>
          </a:p>
          <a:p>
            <a:pPr marL="0" indent="0">
              <a:lnSpc>
                <a:spcPct val="50000"/>
              </a:lnSpc>
              <a:buFont typeface="Arial" panose="020B0604020202020204" pitchFamily="34" charset="0"/>
              <a:buNone/>
            </a:pPr>
            <a:r>
              <a:rPr lang="en-US" sz="700" dirty="0" err="1"/>
              <a:t>Preemption_Post</a:t>
            </a:r>
            <a:r>
              <a:rPr lang="en-US" sz="700" dirty="0"/>
              <a:t>: Coefficient = 0.0593, p-value = 0.9855</a:t>
            </a:r>
          </a:p>
        </p:txBody>
      </p:sp>
      <p:sp>
        <p:nvSpPr>
          <p:cNvPr id="7" name="Content Placeholder 2">
            <a:extLst>
              <a:ext uri="{FF2B5EF4-FFF2-40B4-BE49-F238E27FC236}">
                <a16:creationId xmlns:a16="http://schemas.microsoft.com/office/drawing/2014/main" id="{9FDB567C-E2B5-83EF-EF4F-34B1EA171378}"/>
              </a:ext>
            </a:extLst>
          </p:cNvPr>
          <p:cNvSpPr txBox="1">
            <a:spLocks/>
          </p:cNvSpPr>
          <p:nvPr/>
        </p:nvSpPr>
        <p:spPr>
          <a:xfrm>
            <a:off x="7516510" y="1492099"/>
            <a:ext cx="2834640" cy="479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US" sz="700" b="1" dirty="0"/>
              <a:t>Results for Annual Avg Temp:</a:t>
            </a:r>
          </a:p>
          <a:p>
            <a:pPr marL="0" indent="0">
              <a:lnSpc>
                <a:spcPct val="50000"/>
              </a:lnSpc>
              <a:buFont typeface="Arial" panose="020B0604020202020204" pitchFamily="34" charset="0"/>
              <a:buNone/>
            </a:pPr>
            <a:r>
              <a:rPr lang="en-US" sz="700" dirty="0"/>
              <a:t>Intercept: Coefficient = 50.9923, p-value = 0.0000</a:t>
            </a:r>
          </a:p>
          <a:p>
            <a:pPr marL="0" indent="0">
              <a:lnSpc>
                <a:spcPct val="50000"/>
              </a:lnSpc>
              <a:buFont typeface="Arial" panose="020B0604020202020204" pitchFamily="34" charset="0"/>
              <a:buNone/>
            </a:pPr>
            <a:r>
              <a:rPr lang="en-US" sz="700" dirty="0"/>
              <a:t>Preempted: Coefficient = 5.3369, p-value = 0.0014</a:t>
            </a:r>
          </a:p>
          <a:p>
            <a:pPr marL="0" indent="0">
              <a:lnSpc>
                <a:spcPct val="50000"/>
              </a:lnSpc>
              <a:buFont typeface="Arial" panose="020B0604020202020204" pitchFamily="34" charset="0"/>
              <a:buNone/>
            </a:pPr>
            <a:r>
              <a:rPr lang="en-US" sz="700" dirty="0"/>
              <a:t>Post: Coefficient = -0.8141, p-value = 0.5813</a:t>
            </a:r>
          </a:p>
          <a:p>
            <a:pPr marL="0" indent="0">
              <a:lnSpc>
                <a:spcPct val="50000"/>
              </a:lnSpc>
              <a:buFont typeface="Arial" panose="020B0604020202020204" pitchFamily="34" charset="0"/>
              <a:buNone/>
            </a:pPr>
            <a:r>
              <a:rPr lang="en-US" sz="700" dirty="0" err="1"/>
              <a:t>Preemption_Post</a:t>
            </a:r>
            <a:r>
              <a:rPr lang="en-US" sz="700" dirty="0"/>
              <a:t>: Coefficient = 1.0460, p-value = 0.6234</a:t>
            </a:r>
          </a:p>
        </p:txBody>
      </p:sp>
      <p:sp>
        <p:nvSpPr>
          <p:cNvPr id="10" name="TextBox 9">
            <a:extLst>
              <a:ext uri="{FF2B5EF4-FFF2-40B4-BE49-F238E27FC236}">
                <a16:creationId xmlns:a16="http://schemas.microsoft.com/office/drawing/2014/main" id="{51F4A54B-29A1-0499-64C4-2D6A574F876E}"/>
              </a:ext>
            </a:extLst>
          </p:cNvPr>
          <p:cNvSpPr txBox="1"/>
          <p:nvPr/>
        </p:nvSpPr>
        <p:spPr>
          <a:xfrm>
            <a:off x="7516510" y="3290549"/>
            <a:ext cx="4007800" cy="1785104"/>
          </a:xfrm>
          <a:prstGeom prst="rect">
            <a:avLst/>
          </a:prstGeom>
          <a:noFill/>
        </p:spPr>
        <p:txBody>
          <a:bodyPr wrap="square" rtlCol="0">
            <a:spAutoFit/>
          </a:bodyPr>
          <a:lstStyle/>
          <a:p>
            <a:r>
              <a:rPr lang="en-US" sz="1000" b="1" dirty="0"/>
              <a:t>Intercept:</a:t>
            </a:r>
            <a:r>
              <a:rPr lang="en-US" sz="1000" dirty="0"/>
              <a:t> This is the baseline value of the outcome for </a:t>
            </a:r>
            <a:r>
              <a:rPr lang="en-US" sz="1000" b="1" dirty="0"/>
              <a:t>non-preempted     states </a:t>
            </a:r>
            <a:r>
              <a:rPr lang="en-US" sz="1000" dirty="0"/>
              <a:t>in the first 3 years</a:t>
            </a:r>
          </a:p>
          <a:p>
            <a:endParaRPr lang="en-US" sz="1000" dirty="0"/>
          </a:p>
          <a:p>
            <a:r>
              <a:rPr lang="en-US" sz="1000" b="1" dirty="0"/>
              <a:t>Preempted: </a:t>
            </a:r>
            <a:r>
              <a:rPr lang="en-US" sz="1000" dirty="0"/>
              <a:t>This measures the </a:t>
            </a:r>
            <a:r>
              <a:rPr lang="en-US" sz="1000" b="1" dirty="0"/>
              <a:t>difference in the outcome</a:t>
            </a:r>
            <a:r>
              <a:rPr lang="en-US" sz="1000" dirty="0"/>
              <a:t> between preempted and non-preempted states </a:t>
            </a:r>
            <a:r>
              <a:rPr lang="en-US" sz="1000" b="1" dirty="0"/>
              <a:t>in the first 3 years</a:t>
            </a:r>
            <a:r>
              <a:rPr lang="en-US" sz="1000" dirty="0"/>
              <a:t>.</a:t>
            </a:r>
          </a:p>
          <a:p>
            <a:endParaRPr lang="en-US" sz="1000" dirty="0"/>
          </a:p>
          <a:p>
            <a:r>
              <a:rPr lang="en-US" sz="1000" b="1" dirty="0"/>
              <a:t>Post: </a:t>
            </a:r>
            <a:r>
              <a:rPr lang="en-US" sz="1000" dirty="0"/>
              <a:t>This measures the </a:t>
            </a:r>
            <a:r>
              <a:rPr lang="en-US" sz="1000" b="1" dirty="0"/>
              <a:t>difference in the outcome</a:t>
            </a:r>
            <a:r>
              <a:rPr lang="en-US" sz="1000" dirty="0"/>
              <a:t> between the post-period and the pre-period </a:t>
            </a:r>
            <a:r>
              <a:rPr lang="en-US" sz="1000" b="1" dirty="0"/>
              <a:t>for non-preempted states</a:t>
            </a:r>
            <a:r>
              <a:rPr lang="en-US" sz="1000" dirty="0"/>
              <a:t>.</a:t>
            </a:r>
          </a:p>
          <a:p>
            <a:endParaRPr lang="en-US" sz="1000" dirty="0"/>
          </a:p>
          <a:p>
            <a:r>
              <a:rPr lang="en-US" sz="1000" b="1" dirty="0" err="1"/>
              <a:t>Preemption_Post</a:t>
            </a:r>
            <a:r>
              <a:rPr lang="en-US" sz="1000" b="1" dirty="0"/>
              <a:t>:</a:t>
            </a:r>
            <a:r>
              <a:rPr lang="en-US" sz="1000" dirty="0"/>
              <a:t> This measures the </a:t>
            </a:r>
            <a:r>
              <a:rPr lang="en-US" sz="1000" b="1" dirty="0"/>
              <a:t>additional effect of preemption in the post-period</a:t>
            </a:r>
            <a:r>
              <a:rPr lang="en-US" sz="1000" dirty="0"/>
              <a:t> beyond the individual effects of preemption and time.</a:t>
            </a:r>
          </a:p>
        </p:txBody>
      </p:sp>
      <p:sp>
        <p:nvSpPr>
          <p:cNvPr id="4" name="TextBox 3">
            <a:extLst>
              <a:ext uri="{FF2B5EF4-FFF2-40B4-BE49-F238E27FC236}">
                <a16:creationId xmlns:a16="http://schemas.microsoft.com/office/drawing/2014/main" id="{D2DBCB1F-4FE8-8487-AC4E-9104E8CCDF93}"/>
              </a:ext>
            </a:extLst>
          </p:cNvPr>
          <p:cNvSpPr txBox="1"/>
          <p:nvPr/>
        </p:nvSpPr>
        <p:spPr>
          <a:xfrm>
            <a:off x="5605273" y="6379576"/>
            <a:ext cx="685800" cy="369332"/>
          </a:xfrm>
          <a:prstGeom prst="rect">
            <a:avLst/>
          </a:prstGeom>
          <a:noFill/>
        </p:spPr>
        <p:txBody>
          <a:bodyPr wrap="square" rtlCol="0">
            <a:spAutoFit/>
          </a:bodyPr>
          <a:lstStyle/>
          <a:p>
            <a:pPr algn="ctr"/>
            <a:r>
              <a:rPr lang="en-US" dirty="0"/>
              <a:t>19</a:t>
            </a:r>
          </a:p>
        </p:txBody>
      </p:sp>
    </p:spTree>
    <p:extLst>
      <p:ext uri="{BB962C8B-B14F-4D97-AF65-F5344CB8AC3E}">
        <p14:creationId xmlns:p14="http://schemas.microsoft.com/office/powerpoint/2010/main" val="2934456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10036-43B3-298B-3085-B6CAC9CFD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36A10-3340-B155-4F51-21A894E95C79}"/>
              </a:ext>
            </a:extLst>
          </p:cNvPr>
          <p:cNvSpPr>
            <a:spLocks noGrp="1"/>
          </p:cNvSpPr>
          <p:nvPr>
            <p:ph type="title"/>
          </p:nvPr>
        </p:nvSpPr>
        <p:spPr>
          <a:xfrm>
            <a:off x="2450237" y="301752"/>
            <a:ext cx="9605639" cy="960120"/>
          </a:xfrm>
        </p:spPr>
        <p:txBody>
          <a:bodyPr>
            <a:normAutofit fontScale="90000"/>
          </a:bodyPr>
          <a:lstStyle/>
          <a:p>
            <a:r>
              <a:rPr lang="en-US" b="1" dirty="0"/>
              <a:t>Socio-economic Outcomes in States with higher/equal minimum wage than Federal</a:t>
            </a:r>
            <a:endParaRPr lang="en-US" dirty="0"/>
          </a:p>
        </p:txBody>
      </p:sp>
      <p:pic>
        <p:nvPicPr>
          <p:cNvPr id="6" name="Content Placeholder 5">
            <a:extLst>
              <a:ext uri="{FF2B5EF4-FFF2-40B4-BE49-F238E27FC236}">
                <a16:creationId xmlns:a16="http://schemas.microsoft.com/office/drawing/2014/main" id="{2F3910BB-91D8-410F-4992-FB9674092472}"/>
              </a:ext>
            </a:extLst>
          </p:cNvPr>
          <p:cNvPicPr>
            <a:picLocks noGrp="1" noChangeAspect="1"/>
          </p:cNvPicPr>
          <p:nvPr>
            <p:ph sz="half" idx="1"/>
          </p:nvPr>
        </p:nvPicPr>
        <p:blipFill>
          <a:blip r:embed="rId2"/>
          <a:stretch>
            <a:fillRect/>
          </a:stretch>
        </p:blipFill>
        <p:spPr>
          <a:xfrm>
            <a:off x="91213" y="1331650"/>
            <a:ext cx="6872188" cy="4989251"/>
          </a:xfrm>
        </p:spPr>
      </p:pic>
      <p:pic>
        <p:nvPicPr>
          <p:cNvPr id="8" name="Picture 7">
            <a:extLst>
              <a:ext uri="{FF2B5EF4-FFF2-40B4-BE49-F238E27FC236}">
                <a16:creationId xmlns:a16="http://schemas.microsoft.com/office/drawing/2014/main" id="{F2B2EDF0-E0C4-074B-1E1D-71487C5BC8EE}"/>
              </a:ext>
            </a:extLst>
          </p:cNvPr>
          <p:cNvPicPr>
            <a:picLocks noChangeAspect="1"/>
          </p:cNvPicPr>
          <p:nvPr/>
        </p:nvPicPr>
        <p:blipFill>
          <a:blip r:embed="rId3"/>
          <a:stretch>
            <a:fillRect/>
          </a:stretch>
        </p:blipFill>
        <p:spPr>
          <a:xfrm>
            <a:off x="7073606" y="1331649"/>
            <a:ext cx="5052738" cy="4989251"/>
          </a:xfrm>
          <a:prstGeom prst="rect">
            <a:avLst/>
          </a:prstGeom>
        </p:spPr>
      </p:pic>
      <p:sp>
        <p:nvSpPr>
          <p:cNvPr id="3" name="TextBox 2">
            <a:extLst>
              <a:ext uri="{FF2B5EF4-FFF2-40B4-BE49-F238E27FC236}">
                <a16:creationId xmlns:a16="http://schemas.microsoft.com/office/drawing/2014/main" id="{CDB2667B-6382-2CB0-2E5A-70ACDBD8E72B}"/>
              </a:ext>
            </a:extLst>
          </p:cNvPr>
          <p:cNvSpPr txBox="1"/>
          <p:nvPr/>
        </p:nvSpPr>
        <p:spPr>
          <a:xfrm>
            <a:off x="5605273" y="6379576"/>
            <a:ext cx="685800" cy="369332"/>
          </a:xfrm>
          <a:prstGeom prst="rect">
            <a:avLst/>
          </a:prstGeom>
          <a:noFill/>
        </p:spPr>
        <p:txBody>
          <a:bodyPr wrap="square" rtlCol="0">
            <a:spAutoFit/>
          </a:bodyPr>
          <a:lstStyle/>
          <a:p>
            <a:pPr algn="ctr"/>
            <a:r>
              <a:rPr lang="en-US" dirty="0"/>
              <a:t>20</a:t>
            </a:r>
          </a:p>
        </p:txBody>
      </p:sp>
    </p:spTree>
    <p:extLst>
      <p:ext uri="{BB962C8B-B14F-4D97-AF65-F5344CB8AC3E}">
        <p14:creationId xmlns:p14="http://schemas.microsoft.com/office/powerpoint/2010/main" val="1254615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FA60-8516-9E4A-DF0A-4AB73C4753D9}"/>
              </a:ext>
            </a:extLst>
          </p:cNvPr>
          <p:cNvSpPr>
            <a:spLocks noGrp="1"/>
          </p:cNvSpPr>
          <p:nvPr>
            <p:ph type="title"/>
          </p:nvPr>
        </p:nvSpPr>
        <p:spPr>
          <a:xfrm>
            <a:off x="2450237" y="301752"/>
            <a:ext cx="9605639" cy="960120"/>
          </a:xfrm>
        </p:spPr>
        <p:txBody>
          <a:bodyPr>
            <a:normAutofit fontScale="90000"/>
          </a:bodyPr>
          <a:lstStyle/>
          <a:p>
            <a:r>
              <a:rPr lang="en-US" b="1" dirty="0"/>
              <a:t>Socio-economic Outcomes in States with higher/equal minimum wage than Federal</a:t>
            </a:r>
            <a:endParaRPr lang="en-US" dirty="0"/>
          </a:p>
        </p:txBody>
      </p:sp>
      <p:sp>
        <p:nvSpPr>
          <p:cNvPr id="5" name="Content Placeholder 2">
            <a:extLst>
              <a:ext uri="{FF2B5EF4-FFF2-40B4-BE49-F238E27FC236}">
                <a16:creationId xmlns:a16="http://schemas.microsoft.com/office/drawing/2014/main" id="{EA3E40AB-AE62-786A-6827-F2E287A4BA6A}"/>
              </a:ext>
            </a:extLst>
          </p:cNvPr>
          <p:cNvSpPr>
            <a:spLocks noGrp="1"/>
          </p:cNvSpPr>
          <p:nvPr>
            <p:ph sz="half" idx="1"/>
          </p:nvPr>
        </p:nvSpPr>
        <p:spPr>
          <a:xfrm>
            <a:off x="200648" y="1502731"/>
            <a:ext cx="2834640" cy="4792093"/>
          </a:xfrm>
        </p:spPr>
        <p:txBody>
          <a:bodyPr>
            <a:normAutofit/>
          </a:bodyPr>
          <a:lstStyle/>
          <a:p>
            <a:pPr marL="0" indent="0">
              <a:lnSpc>
                <a:spcPct val="50000"/>
              </a:lnSpc>
              <a:buNone/>
            </a:pPr>
            <a:r>
              <a:rPr lang="en-US" sz="700" b="1" dirty="0"/>
              <a:t>Results for Suicide Rate per 100k:</a:t>
            </a:r>
          </a:p>
          <a:p>
            <a:pPr marL="0" indent="0">
              <a:lnSpc>
                <a:spcPct val="50000"/>
              </a:lnSpc>
              <a:buNone/>
            </a:pPr>
            <a:r>
              <a:rPr lang="en-US" sz="700" dirty="0"/>
              <a:t>Intercept: Coefficient = 14.8967, p-value = 0.0000</a:t>
            </a:r>
          </a:p>
          <a:p>
            <a:pPr marL="0" indent="0">
              <a:lnSpc>
                <a:spcPct val="50000"/>
              </a:lnSpc>
              <a:buNone/>
            </a:pPr>
            <a:r>
              <a:rPr lang="en-US" sz="700" dirty="0"/>
              <a:t>Q("State vs Federal Wage"): Coefficient = -2.0466, p-value = 0.0126</a:t>
            </a:r>
          </a:p>
          <a:p>
            <a:pPr marL="0" indent="0">
              <a:lnSpc>
                <a:spcPct val="50000"/>
              </a:lnSpc>
              <a:buNone/>
            </a:pPr>
            <a:r>
              <a:rPr lang="en-US" sz="700" dirty="0"/>
              <a:t>Post: Coefficient = 0.7872, p-value = 0.3348</a:t>
            </a:r>
          </a:p>
          <a:p>
            <a:pPr marL="0" indent="0">
              <a:lnSpc>
                <a:spcPct val="50000"/>
              </a:lnSpc>
              <a:buNone/>
            </a:pPr>
            <a:r>
              <a:rPr lang="en-US" sz="700" dirty="0" err="1"/>
              <a:t>Wage_Post</a:t>
            </a:r>
            <a:r>
              <a:rPr lang="en-US" sz="700" dirty="0"/>
              <a:t>: Coefficient = 0.1181, p-value = 0.9106</a:t>
            </a:r>
          </a:p>
          <a:p>
            <a:pPr marL="0" indent="0">
              <a:lnSpc>
                <a:spcPct val="50000"/>
              </a:lnSpc>
              <a:buNone/>
            </a:pPr>
            <a:endParaRPr lang="en-US" sz="700" dirty="0"/>
          </a:p>
          <a:p>
            <a:pPr marL="0" indent="0">
              <a:lnSpc>
                <a:spcPct val="50000"/>
              </a:lnSpc>
              <a:buNone/>
            </a:pPr>
            <a:endParaRPr lang="en-US" sz="700" dirty="0"/>
          </a:p>
          <a:p>
            <a:pPr marL="0" indent="0">
              <a:lnSpc>
                <a:spcPct val="50000"/>
              </a:lnSpc>
              <a:buNone/>
            </a:pPr>
            <a:r>
              <a:rPr lang="en-US" sz="700" b="1" dirty="0"/>
              <a:t>Results for Firearm Mortality Rate per 100k:</a:t>
            </a:r>
          </a:p>
          <a:p>
            <a:pPr marL="0" indent="0">
              <a:lnSpc>
                <a:spcPct val="50000"/>
              </a:lnSpc>
              <a:buNone/>
            </a:pPr>
            <a:r>
              <a:rPr lang="en-US" sz="700" dirty="0"/>
              <a:t>Intercept: Coefficient = 13.5512, p-value = 0.0000</a:t>
            </a:r>
          </a:p>
          <a:p>
            <a:pPr marL="0" indent="0">
              <a:lnSpc>
                <a:spcPct val="50000"/>
              </a:lnSpc>
              <a:buNone/>
            </a:pPr>
            <a:r>
              <a:rPr lang="en-US" sz="700" dirty="0"/>
              <a:t>Q("State vs Federal Wage"): Coefficient = -3.4876, p-value = 0.0002</a:t>
            </a:r>
          </a:p>
          <a:p>
            <a:pPr marL="0" indent="0">
              <a:lnSpc>
                <a:spcPct val="50000"/>
              </a:lnSpc>
              <a:buNone/>
            </a:pPr>
            <a:r>
              <a:rPr lang="en-US" sz="700" dirty="0"/>
              <a:t>Post: Coefficient = 0.7504, p-value = 0.4186</a:t>
            </a:r>
          </a:p>
          <a:p>
            <a:pPr marL="0" indent="0">
              <a:lnSpc>
                <a:spcPct val="50000"/>
              </a:lnSpc>
              <a:buNone/>
            </a:pPr>
            <a:r>
              <a:rPr lang="en-US" sz="700" dirty="0" err="1"/>
              <a:t>Wage_Post</a:t>
            </a:r>
            <a:r>
              <a:rPr lang="en-US" sz="700" dirty="0"/>
              <a:t>: Coefficient = -0.4114, p-value = 0.7311</a:t>
            </a:r>
          </a:p>
          <a:p>
            <a:pPr marL="0" indent="0">
              <a:lnSpc>
                <a:spcPct val="50000"/>
              </a:lnSpc>
              <a:buNone/>
            </a:pPr>
            <a:endParaRPr lang="en-US" sz="700" dirty="0"/>
          </a:p>
          <a:p>
            <a:pPr marL="0" indent="0">
              <a:lnSpc>
                <a:spcPct val="50000"/>
              </a:lnSpc>
              <a:buNone/>
            </a:pPr>
            <a:endParaRPr lang="en-US" sz="700" dirty="0"/>
          </a:p>
          <a:p>
            <a:pPr marL="0" indent="0">
              <a:lnSpc>
                <a:spcPct val="50000"/>
              </a:lnSpc>
              <a:buNone/>
            </a:pPr>
            <a:r>
              <a:rPr lang="en-US" sz="700" b="1" dirty="0"/>
              <a:t>Results for Violent Crime Mortality Rate per 100k:</a:t>
            </a:r>
          </a:p>
          <a:p>
            <a:pPr marL="0" indent="0">
              <a:lnSpc>
                <a:spcPct val="50000"/>
              </a:lnSpc>
              <a:buNone/>
            </a:pPr>
            <a:r>
              <a:rPr lang="en-US" sz="700" dirty="0"/>
              <a:t>Intercept: Coefficient = 5.9177, p-value = 0.0000</a:t>
            </a:r>
          </a:p>
          <a:p>
            <a:pPr marL="0" indent="0">
              <a:lnSpc>
                <a:spcPct val="50000"/>
              </a:lnSpc>
              <a:buNone/>
            </a:pPr>
            <a:r>
              <a:rPr lang="en-US" sz="700" dirty="0"/>
              <a:t>Q("State vs Federal Wage"): Coefficient = -0.9211, p-value = 0.1384</a:t>
            </a:r>
          </a:p>
          <a:p>
            <a:pPr marL="0" indent="0">
              <a:lnSpc>
                <a:spcPct val="50000"/>
              </a:lnSpc>
              <a:buNone/>
            </a:pPr>
            <a:r>
              <a:rPr lang="en-US" sz="700" dirty="0"/>
              <a:t>Post: Coefficient = 0.3028, p-value = 0.6256</a:t>
            </a:r>
          </a:p>
          <a:p>
            <a:pPr marL="0" indent="0">
              <a:lnSpc>
                <a:spcPct val="50000"/>
              </a:lnSpc>
              <a:buNone/>
            </a:pPr>
            <a:r>
              <a:rPr lang="en-US" sz="700" dirty="0" err="1"/>
              <a:t>Wage_Post</a:t>
            </a:r>
            <a:r>
              <a:rPr lang="en-US" sz="700" dirty="0"/>
              <a:t>: Coefficient = -0.5395, p-value = 0.5007</a:t>
            </a:r>
          </a:p>
          <a:p>
            <a:pPr marL="0" indent="0">
              <a:lnSpc>
                <a:spcPct val="50000"/>
              </a:lnSpc>
              <a:buNone/>
            </a:pPr>
            <a:endParaRPr lang="en-US" sz="700" dirty="0"/>
          </a:p>
          <a:p>
            <a:pPr marL="0" indent="0">
              <a:lnSpc>
                <a:spcPct val="50000"/>
              </a:lnSpc>
              <a:buNone/>
            </a:pPr>
            <a:endParaRPr lang="en-US" sz="700" dirty="0"/>
          </a:p>
          <a:p>
            <a:pPr marL="0" indent="0">
              <a:lnSpc>
                <a:spcPct val="50000"/>
              </a:lnSpc>
              <a:buNone/>
            </a:pPr>
            <a:r>
              <a:rPr lang="en-US" sz="700" b="1" dirty="0"/>
              <a:t>Results for Drug Deaths Rate per 100k:</a:t>
            </a:r>
          </a:p>
          <a:p>
            <a:pPr marL="0" indent="0">
              <a:lnSpc>
                <a:spcPct val="50000"/>
              </a:lnSpc>
              <a:buNone/>
            </a:pPr>
            <a:r>
              <a:rPr lang="en-US" sz="700" dirty="0"/>
              <a:t>Intercept: Coefficient = 14.4760, p-value = 0.0000</a:t>
            </a:r>
          </a:p>
          <a:p>
            <a:pPr marL="0" indent="0">
              <a:lnSpc>
                <a:spcPct val="50000"/>
              </a:lnSpc>
              <a:buNone/>
            </a:pPr>
            <a:r>
              <a:rPr lang="en-US" sz="700" dirty="0"/>
              <a:t>Q("State vs Federal Wage"): Coefficient = -1.2911, p-value = 0.4159</a:t>
            </a:r>
          </a:p>
          <a:p>
            <a:pPr marL="0" indent="0">
              <a:lnSpc>
                <a:spcPct val="50000"/>
              </a:lnSpc>
              <a:buNone/>
            </a:pPr>
            <a:r>
              <a:rPr lang="en-US" sz="700" dirty="0"/>
              <a:t>Post: Coefficient = 2.5255, p-value = 0.1122</a:t>
            </a:r>
          </a:p>
          <a:p>
            <a:pPr marL="0" indent="0">
              <a:lnSpc>
                <a:spcPct val="50000"/>
              </a:lnSpc>
              <a:buNone/>
            </a:pPr>
            <a:r>
              <a:rPr lang="en-US" sz="700" dirty="0" err="1"/>
              <a:t>Wage_Post</a:t>
            </a:r>
            <a:r>
              <a:rPr lang="en-US" sz="700" dirty="0"/>
              <a:t>: Coefficient = 0.1472, p-value = 0.9427</a:t>
            </a:r>
          </a:p>
        </p:txBody>
      </p:sp>
      <p:sp>
        <p:nvSpPr>
          <p:cNvPr id="6" name="Content Placeholder 2">
            <a:extLst>
              <a:ext uri="{FF2B5EF4-FFF2-40B4-BE49-F238E27FC236}">
                <a16:creationId xmlns:a16="http://schemas.microsoft.com/office/drawing/2014/main" id="{753EB2B5-4C24-660B-6DD6-F08634F7EECD}"/>
              </a:ext>
            </a:extLst>
          </p:cNvPr>
          <p:cNvSpPr txBox="1">
            <a:spLocks/>
          </p:cNvSpPr>
          <p:nvPr/>
        </p:nvSpPr>
        <p:spPr>
          <a:xfrm>
            <a:off x="2831207" y="1502730"/>
            <a:ext cx="2834640" cy="479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US" sz="700" b="1" dirty="0"/>
              <a:t>Results for White perc:</a:t>
            </a:r>
          </a:p>
          <a:p>
            <a:pPr marL="0" indent="0">
              <a:lnSpc>
                <a:spcPct val="50000"/>
              </a:lnSpc>
              <a:buFont typeface="Arial" panose="020B0604020202020204" pitchFamily="34" charset="0"/>
              <a:buNone/>
            </a:pPr>
            <a:r>
              <a:rPr lang="en-US" sz="700" dirty="0"/>
              <a:t>Intercept: Coefficient = 76.5105, p-value = 0.0000</a:t>
            </a:r>
          </a:p>
          <a:p>
            <a:pPr marL="0" indent="0">
              <a:lnSpc>
                <a:spcPct val="50000"/>
              </a:lnSpc>
              <a:buFont typeface="Arial" panose="020B0604020202020204" pitchFamily="34" charset="0"/>
              <a:buNone/>
            </a:pPr>
            <a:r>
              <a:rPr lang="en-US" sz="700" dirty="0"/>
              <a:t>Q("State vs Federal Wage"): Coefficient = -5.2428, p-value = 0.0944</a:t>
            </a:r>
          </a:p>
          <a:p>
            <a:pPr marL="0" indent="0">
              <a:lnSpc>
                <a:spcPct val="50000"/>
              </a:lnSpc>
              <a:buFont typeface="Arial" panose="020B0604020202020204" pitchFamily="34" charset="0"/>
              <a:buNone/>
            </a:pPr>
            <a:r>
              <a:rPr lang="en-US" sz="700" dirty="0"/>
              <a:t>Post: Coefficient = 0.0000, p-value = 1.0000</a:t>
            </a:r>
          </a:p>
          <a:p>
            <a:pPr marL="0" indent="0">
              <a:lnSpc>
                <a:spcPct val="50000"/>
              </a:lnSpc>
              <a:buFont typeface="Arial" panose="020B0604020202020204" pitchFamily="34" charset="0"/>
              <a:buNone/>
            </a:pPr>
            <a:r>
              <a:rPr lang="en-US" sz="700" dirty="0" err="1"/>
              <a:t>Wage_Post</a:t>
            </a:r>
            <a:r>
              <a:rPr lang="en-US" sz="700" dirty="0"/>
              <a:t>: Coefficient = 0.0000, p-value = 1.0000</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Black perc:</a:t>
            </a:r>
          </a:p>
          <a:p>
            <a:pPr marL="0" indent="0">
              <a:lnSpc>
                <a:spcPct val="50000"/>
              </a:lnSpc>
              <a:buFont typeface="Arial" panose="020B0604020202020204" pitchFamily="34" charset="0"/>
              <a:buNone/>
            </a:pPr>
            <a:r>
              <a:rPr lang="en-US" sz="700" dirty="0"/>
              <a:t>Intercept: Coefficient = 13.1400, p-value = 0.0000</a:t>
            </a:r>
          </a:p>
          <a:p>
            <a:pPr marL="0" indent="0">
              <a:lnSpc>
                <a:spcPct val="50000"/>
              </a:lnSpc>
              <a:buFont typeface="Arial" panose="020B0604020202020204" pitchFamily="34" charset="0"/>
              <a:buNone/>
            </a:pPr>
            <a:r>
              <a:rPr lang="en-US" sz="700" dirty="0"/>
              <a:t>Q("State vs Federal Wage"): Coefficient = -4.2700, p-value = 0.0251</a:t>
            </a:r>
          </a:p>
          <a:p>
            <a:pPr marL="0" indent="0">
              <a:lnSpc>
                <a:spcPct val="50000"/>
              </a:lnSpc>
              <a:buFont typeface="Arial" panose="020B0604020202020204" pitchFamily="34" charset="0"/>
              <a:buNone/>
            </a:pPr>
            <a:r>
              <a:rPr lang="en-US" sz="700" dirty="0"/>
              <a:t>Post: Coefficient = -0.0000, p-value = 1.0000</a:t>
            </a:r>
          </a:p>
          <a:p>
            <a:pPr marL="0" indent="0">
              <a:lnSpc>
                <a:spcPct val="50000"/>
              </a:lnSpc>
              <a:buFont typeface="Arial" panose="020B0604020202020204" pitchFamily="34" charset="0"/>
              <a:buNone/>
            </a:pPr>
            <a:r>
              <a:rPr lang="en-US" sz="700" dirty="0" err="1"/>
              <a:t>Wage_Post</a:t>
            </a:r>
            <a:r>
              <a:rPr lang="en-US" sz="700" dirty="0"/>
              <a:t>: Coefficient = 0.0000, p-value = 1.0000</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Care Avoided due to Cost perc:</a:t>
            </a:r>
          </a:p>
          <a:p>
            <a:pPr marL="0" indent="0">
              <a:lnSpc>
                <a:spcPct val="50000"/>
              </a:lnSpc>
              <a:buFont typeface="Arial" panose="020B0604020202020204" pitchFamily="34" charset="0"/>
              <a:buNone/>
            </a:pPr>
            <a:r>
              <a:rPr lang="en-US" sz="700" dirty="0"/>
              <a:t>Intercept: Coefficient = 14.2100, p-value = 0.0000</a:t>
            </a:r>
          </a:p>
          <a:p>
            <a:pPr marL="0" indent="0">
              <a:lnSpc>
                <a:spcPct val="50000"/>
              </a:lnSpc>
              <a:buFont typeface="Arial" panose="020B0604020202020204" pitchFamily="34" charset="0"/>
              <a:buNone/>
            </a:pPr>
            <a:r>
              <a:rPr lang="en-US" sz="700" dirty="0"/>
              <a:t>Q("State vs Federal Wage"): Coefficient = -1.4100, p-value = 0.0282</a:t>
            </a:r>
          </a:p>
          <a:p>
            <a:pPr marL="0" indent="0">
              <a:lnSpc>
                <a:spcPct val="50000"/>
              </a:lnSpc>
              <a:buFont typeface="Arial" panose="020B0604020202020204" pitchFamily="34" charset="0"/>
              <a:buNone/>
            </a:pPr>
            <a:r>
              <a:rPr lang="en-US" sz="700" dirty="0"/>
              <a:t>Post: Coefficient = -0.1117, p-value = 0.8614</a:t>
            </a:r>
          </a:p>
          <a:p>
            <a:pPr marL="0" indent="0">
              <a:lnSpc>
                <a:spcPct val="50000"/>
              </a:lnSpc>
              <a:buFont typeface="Arial" panose="020B0604020202020204" pitchFamily="34" charset="0"/>
              <a:buNone/>
            </a:pPr>
            <a:r>
              <a:rPr lang="en-US" sz="700" dirty="0" err="1"/>
              <a:t>Wage_Post</a:t>
            </a:r>
            <a:r>
              <a:rPr lang="en-US" sz="700" dirty="0"/>
              <a:t>: Coefficient = 0.9939, p-value = 0.2292</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Income inequality:</a:t>
            </a:r>
          </a:p>
          <a:p>
            <a:pPr marL="0" indent="0">
              <a:lnSpc>
                <a:spcPct val="50000"/>
              </a:lnSpc>
              <a:buFont typeface="Arial" panose="020B0604020202020204" pitchFamily="34" charset="0"/>
              <a:buNone/>
            </a:pPr>
            <a:r>
              <a:rPr lang="en-US" sz="700" dirty="0"/>
              <a:t>Intercept: Coefficient = 0.4265, p-value = 0.0000</a:t>
            </a:r>
          </a:p>
          <a:p>
            <a:pPr marL="0" indent="0">
              <a:lnSpc>
                <a:spcPct val="50000"/>
              </a:lnSpc>
              <a:buFont typeface="Arial" panose="020B0604020202020204" pitchFamily="34" charset="0"/>
              <a:buNone/>
            </a:pPr>
            <a:r>
              <a:rPr lang="en-US" sz="700" dirty="0"/>
              <a:t>Q("State vs Federal Wage"): Coefficient = 0.0357, p-value = 0.0002</a:t>
            </a:r>
          </a:p>
          <a:p>
            <a:pPr marL="0" indent="0">
              <a:lnSpc>
                <a:spcPct val="50000"/>
              </a:lnSpc>
              <a:buFont typeface="Arial" panose="020B0604020202020204" pitchFamily="34" charset="0"/>
              <a:buNone/>
            </a:pPr>
            <a:r>
              <a:rPr lang="en-US" sz="700" dirty="0"/>
              <a:t>Post: Coefficient = 0.0112, p-value = 0.2328</a:t>
            </a:r>
          </a:p>
          <a:p>
            <a:pPr marL="0" indent="0">
              <a:lnSpc>
                <a:spcPct val="50000"/>
              </a:lnSpc>
              <a:buFont typeface="Arial" panose="020B0604020202020204" pitchFamily="34" charset="0"/>
              <a:buNone/>
            </a:pPr>
            <a:r>
              <a:rPr lang="en-US" sz="700" dirty="0" err="1"/>
              <a:t>Wage_Post</a:t>
            </a:r>
            <a:r>
              <a:rPr lang="en-US" sz="700" dirty="0"/>
              <a:t>: Coefficient = -0.0258, p-value = 0.0335</a:t>
            </a:r>
          </a:p>
        </p:txBody>
      </p:sp>
      <p:sp>
        <p:nvSpPr>
          <p:cNvPr id="7" name="Content Placeholder 2">
            <a:extLst>
              <a:ext uri="{FF2B5EF4-FFF2-40B4-BE49-F238E27FC236}">
                <a16:creationId xmlns:a16="http://schemas.microsoft.com/office/drawing/2014/main" id="{9C091440-59C6-5AFD-BFB0-FA4DBC0987F0}"/>
              </a:ext>
            </a:extLst>
          </p:cNvPr>
          <p:cNvSpPr txBox="1">
            <a:spLocks/>
          </p:cNvSpPr>
          <p:nvPr/>
        </p:nvSpPr>
        <p:spPr>
          <a:xfrm>
            <a:off x="5471961" y="1502729"/>
            <a:ext cx="2834640" cy="479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US" sz="700" b="1" dirty="0"/>
              <a:t>Results for Median Income:</a:t>
            </a:r>
          </a:p>
          <a:p>
            <a:pPr marL="0" indent="0">
              <a:lnSpc>
                <a:spcPct val="50000"/>
              </a:lnSpc>
              <a:buFont typeface="Arial" panose="020B0604020202020204" pitchFamily="34" charset="0"/>
              <a:buNone/>
            </a:pPr>
            <a:r>
              <a:rPr lang="en-US" sz="700" dirty="0"/>
              <a:t>Intercept: Coefficient = 45647.5500, p-value = 0.0000</a:t>
            </a:r>
          </a:p>
          <a:p>
            <a:pPr marL="0" indent="0">
              <a:lnSpc>
                <a:spcPct val="50000"/>
              </a:lnSpc>
              <a:buFont typeface="Arial" panose="020B0604020202020204" pitchFamily="34" charset="0"/>
              <a:buNone/>
            </a:pPr>
            <a:r>
              <a:rPr lang="en-US" sz="700" dirty="0"/>
              <a:t>Q("State vs Federal Wage"): Coefficient = 2380.1000, p-value = 0.1365</a:t>
            </a:r>
          </a:p>
          <a:p>
            <a:pPr marL="0" indent="0">
              <a:lnSpc>
                <a:spcPct val="50000"/>
              </a:lnSpc>
              <a:buFont typeface="Arial" panose="020B0604020202020204" pitchFamily="34" charset="0"/>
              <a:buNone/>
            </a:pPr>
            <a:r>
              <a:rPr lang="en-US" sz="700" dirty="0"/>
              <a:t>Post: Coefficient = 2190.3667, p-value = 0.1704</a:t>
            </a:r>
          </a:p>
          <a:p>
            <a:pPr marL="0" indent="0">
              <a:lnSpc>
                <a:spcPct val="50000"/>
              </a:lnSpc>
              <a:buFont typeface="Arial" panose="020B0604020202020204" pitchFamily="34" charset="0"/>
              <a:buNone/>
            </a:pPr>
            <a:r>
              <a:rPr lang="en-US" sz="700" dirty="0" err="1"/>
              <a:t>Wage_Post</a:t>
            </a:r>
            <a:r>
              <a:rPr lang="en-US" sz="700" dirty="0"/>
              <a:t>: Coefficient = -72.9056, p-value = 0.9718</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Cost of Living Index:</a:t>
            </a:r>
          </a:p>
          <a:p>
            <a:pPr marL="0" indent="0">
              <a:lnSpc>
                <a:spcPct val="50000"/>
              </a:lnSpc>
              <a:buFont typeface="Arial" panose="020B0604020202020204" pitchFamily="34" charset="0"/>
              <a:buNone/>
            </a:pPr>
            <a:r>
              <a:rPr lang="en-US" sz="700" dirty="0"/>
              <a:t>Intercept: Coefficient = 13.4650, p-value = 0.0000</a:t>
            </a:r>
          </a:p>
          <a:p>
            <a:pPr marL="0" indent="0">
              <a:lnSpc>
                <a:spcPct val="50000"/>
              </a:lnSpc>
              <a:buFont typeface="Arial" panose="020B0604020202020204" pitchFamily="34" charset="0"/>
              <a:buNone/>
            </a:pPr>
            <a:r>
              <a:rPr lang="en-US" sz="700" dirty="0"/>
              <a:t>Q("State vs Federal Wage"): Coefficient = -0.8750, p-value = 0.1556</a:t>
            </a:r>
          </a:p>
          <a:p>
            <a:pPr marL="0" indent="0">
              <a:lnSpc>
                <a:spcPct val="50000"/>
              </a:lnSpc>
              <a:buFont typeface="Arial" panose="020B0604020202020204" pitchFamily="34" charset="0"/>
              <a:buNone/>
            </a:pPr>
            <a:r>
              <a:rPr lang="en-US" sz="700" dirty="0"/>
              <a:t>Post: Coefficient = 0.3750, p-value = 0.5422</a:t>
            </a:r>
          </a:p>
          <a:p>
            <a:pPr marL="0" indent="0">
              <a:lnSpc>
                <a:spcPct val="50000"/>
              </a:lnSpc>
              <a:buFont typeface="Arial" panose="020B0604020202020204" pitchFamily="34" charset="0"/>
              <a:buNone/>
            </a:pPr>
            <a:r>
              <a:rPr lang="en-US" sz="700" dirty="0" err="1"/>
              <a:t>Wage_Post</a:t>
            </a:r>
            <a:r>
              <a:rPr lang="en-US" sz="700" dirty="0"/>
              <a:t>: Coefficient = 0.0172, p-value = 0.9827</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Food Insecurity Perc:</a:t>
            </a:r>
          </a:p>
          <a:p>
            <a:pPr marL="0" indent="0">
              <a:lnSpc>
                <a:spcPct val="50000"/>
              </a:lnSpc>
              <a:buFont typeface="Arial" panose="020B0604020202020204" pitchFamily="34" charset="0"/>
              <a:buNone/>
            </a:pPr>
            <a:r>
              <a:rPr lang="en-US" sz="700" dirty="0"/>
              <a:t>Intercept: Coefficient = 12.4025, p-value = 0.0000</a:t>
            </a:r>
          </a:p>
          <a:p>
            <a:pPr marL="0" indent="0">
              <a:lnSpc>
                <a:spcPct val="50000"/>
              </a:lnSpc>
              <a:buFont typeface="Arial" panose="020B0604020202020204" pitchFamily="34" charset="0"/>
              <a:buNone/>
            </a:pPr>
            <a:r>
              <a:rPr lang="en-US" sz="700" dirty="0"/>
              <a:t>Q("State vs Federal Wage"): Coefficient = -1.2458, p-value = 0.0103</a:t>
            </a:r>
          </a:p>
          <a:p>
            <a:pPr marL="0" indent="0">
              <a:lnSpc>
                <a:spcPct val="50000"/>
              </a:lnSpc>
              <a:buFont typeface="Arial" panose="020B0604020202020204" pitchFamily="34" charset="0"/>
              <a:buNone/>
            </a:pPr>
            <a:r>
              <a:rPr lang="en-US" sz="700" dirty="0"/>
              <a:t>Post: Coefficient = 0.0742, p-value = 0.8778</a:t>
            </a:r>
          </a:p>
          <a:p>
            <a:pPr marL="0" indent="0">
              <a:lnSpc>
                <a:spcPct val="50000"/>
              </a:lnSpc>
              <a:buFont typeface="Arial" panose="020B0604020202020204" pitchFamily="34" charset="0"/>
              <a:buNone/>
            </a:pPr>
            <a:r>
              <a:rPr lang="en-US" sz="700" dirty="0" err="1"/>
              <a:t>Wage_Post</a:t>
            </a:r>
            <a:r>
              <a:rPr lang="en-US" sz="700" dirty="0"/>
              <a:t>: Coefficient = 0.8547, p-value = 0.1705</a:t>
            </a:r>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endParaRPr lang="en-US" sz="700" dirty="0"/>
          </a:p>
          <a:p>
            <a:pPr marL="0" indent="0">
              <a:lnSpc>
                <a:spcPct val="50000"/>
              </a:lnSpc>
              <a:buFont typeface="Arial" panose="020B0604020202020204" pitchFamily="34" charset="0"/>
              <a:buNone/>
            </a:pPr>
            <a:r>
              <a:rPr lang="en-US" sz="700" b="1" dirty="0"/>
              <a:t>Results for Housing Insecurity:</a:t>
            </a:r>
          </a:p>
          <a:p>
            <a:pPr marL="0" indent="0">
              <a:lnSpc>
                <a:spcPct val="50000"/>
              </a:lnSpc>
              <a:buFont typeface="Arial" panose="020B0604020202020204" pitchFamily="34" charset="0"/>
              <a:buNone/>
            </a:pPr>
            <a:r>
              <a:rPr lang="en-US" sz="700" dirty="0"/>
              <a:t>Intercept: Coefficient = 7.8797, p-value = 0.0001</a:t>
            </a:r>
          </a:p>
          <a:p>
            <a:pPr marL="0" indent="0">
              <a:lnSpc>
                <a:spcPct val="50000"/>
              </a:lnSpc>
              <a:buFont typeface="Arial" panose="020B0604020202020204" pitchFamily="34" charset="0"/>
              <a:buNone/>
            </a:pPr>
            <a:r>
              <a:rPr lang="en-US" sz="700" dirty="0"/>
              <a:t>Q("State vs Federal Wage"): Coefficient = 1.2984, p-value = 0.6157</a:t>
            </a:r>
          </a:p>
          <a:p>
            <a:pPr marL="0" indent="0">
              <a:lnSpc>
                <a:spcPct val="50000"/>
              </a:lnSpc>
              <a:buFont typeface="Arial" panose="020B0604020202020204" pitchFamily="34" charset="0"/>
              <a:buNone/>
            </a:pPr>
            <a:r>
              <a:rPr lang="en-US" sz="700" dirty="0"/>
              <a:t>Post: Coefficient = 0.1668, p-value = 0.9486</a:t>
            </a:r>
          </a:p>
          <a:p>
            <a:pPr marL="0" indent="0">
              <a:lnSpc>
                <a:spcPct val="50000"/>
              </a:lnSpc>
              <a:buFont typeface="Arial" panose="020B0604020202020204" pitchFamily="34" charset="0"/>
              <a:buNone/>
            </a:pPr>
            <a:r>
              <a:rPr lang="en-US" sz="700" dirty="0" err="1"/>
              <a:t>Wage_Post</a:t>
            </a:r>
            <a:r>
              <a:rPr lang="en-US" sz="700" dirty="0"/>
              <a:t>: Coefficient = -0.1853, p-value = 0.9558</a:t>
            </a:r>
          </a:p>
        </p:txBody>
      </p:sp>
      <p:sp>
        <p:nvSpPr>
          <p:cNvPr id="8" name="Content Placeholder 2">
            <a:extLst>
              <a:ext uri="{FF2B5EF4-FFF2-40B4-BE49-F238E27FC236}">
                <a16:creationId xmlns:a16="http://schemas.microsoft.com/office/drawing/2014/main" id="{0A613F83-E14D-0229-0B97-9AC607363663}"/>
              </a:ext>
            </a:extLst>
          </p:cNvPr>
          <p:cNvSpPr txBox="1">
            <a:spLocks/>
          </p:cNvSpPr>
          <p:nvPr/>
        </p:nvSpPr>
        <p:spPr>
          <a:xfrm>
            <a:off x="8633005" y="1502734"/>
            <a:ext cx="2834640" cy="4792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US" sz="700" b="1" dirty="0"/>
              <a:t>Results for Annual Avg Temp:</a:t>
            </a:r>
          </a:p>
          <a:p>
            <a:pPr marL="0" indent="0">
              <a:lnSpc>
                <a:spcPct val="50000"/>
              </a:lnSpc>
              <a:buFont typeface="Arial" panose="020B0604020202020204" pitchFamily="34" charset="0"/>
              <a:buNone/>
            </a:pPr>
            <a:r>
              <a:rPr lang="en-US" sz="700" dirty="0"/>
              <a:t>Intercept: Coefficient = 55.0250, p-value = 0.0000</a:t>
            </a:r>
          </a:p>
          <a:p>
            <a:pPr marL="0" indent="0">
              <a:lnSpc>
                <a:spcPct val="50000"/>
              </a:lnSpc>
              <a:buFont typeface="Arial" panose="020B0604020202020204" pitchFamily="34" charset="0"/>
              <a:buNone/>
            </a:pPr>
            <a:r>
              <a:rPr lang="en-US" sz="700" dirty="0"/>
              <a:t>Q("State vs Federal Wage"): Coefficient = -2.4517, p-value = 0.1667</a:t>
            </a:r>
          </a:p>
          <a:p>
            <a:pPr marL="0" indent="0">
              <a:lnSpc>
                <a:spcPct val="50000"/>
              </a:lnSpc>
              <a:buFont typeface="Arial" panose="020B0604020202020204" pitchFamily="34" charset="0"/>
              <a:buNone/>
            </a:pPr>
            <a:r>
              <a:rPr lang="en-US" sz="700" dirty="0"/>
              <a:t>Post: Coefficient = 0.0233, p-value = 0.9895</a:t>
            </a:r>
          </a:p>
          <a:p>
            <a:pPr marL="0" indent="0">
              <a:lnSpc>
                <a:spcPct val="50000"/>
              </a:lnSpc>
              <a:buFont typeface="Arial" panose="020B0604020202020204" pitchFamily="34" charset="0"/>
              <a:buNone/>
            </a:pPr>
            <a:r>
              <a:rPr lang="en-US" sz="700" dirty="0" err="1"/>
              <a:t>Wage_Post</a:t>
            </a:r>
            <a:r>
              <a:rPr lang="en-US" sz="700" dirty="0"/>
              <a:t>: Coefficient = -0.5589, p-value = 0.8067</a:t>
            </a:r>
          </a:p>
        </p:txBody>
      </p:sp>
      <p:sp>
        <p:nvSpPr>
          <p:cNvPr id="9" name="TextBox 8">
            <a:extLst>
              <a:ext uri="{FF2B5EF4-FFF2-40B4-BE49-F238E27FC236}">
                <a16:creationId xmlns:a16="http://schemas.microsoft.com/office/drawing/2014/main" id="{049D42D6-DA99-9EC6-25D5-BD01B9A2E52E}"/>
              </a:ext>
            </a:extLst>
          </p:cNvPr>
          <p:cNvSpPr txBox="1"/>
          <p:nvPr/>
        </p:nvSpPr>
        <p:spPr>
          <a:xfrm>
            <a:off x="8102520" y="3156649"/>
            <a:ext cx="4007800" cy="1754326"/>
          </a:xfrm>
          <a:prstGeom prst="rect">
            <a:avLst/>
          </a:prstGeom>
          <a:noFill/>
        </p:spPr>
        <p:txBody>
          <a:bodyPr wrap="square" rtlCol="0">
            <a:spAutoFit/>
          </a:bodyPr>
          <a:lstStyle/>
          <a:p>
            <a:r>
              <a:rPr lang="en-US" sz="900" b="1" dirty="0"/>
              <a:t>Intercept:</a:t>
            </a:r>
            <a:r>
              <a:rPr lang="en-US" sz="900" dirty="0"/>
              <a:t> It is the expected value of the outcome in states where the state and federal minimum wage are equal in the first 3 years.</a:t>
            </a:r>
          </a:p>
          <a:p>
            <a:endParaRPr lang="en-US" sz="900" dirty="0"/>
          </a:p>
          <a:p>
            <a:r>
              <a:rPr lang="en-US" sz="900" b="1" dirty="0"/>
              <a:t>Q("State vs Federal Wage"): </a:t>
            </a:r>
            <a:r>
              <a:rPr lang="en-US" sz="900" dirty="0"/>
              <a:t>This coefficient captures the average difference in the outcome variable between states with a positive difference in "State vs Federal Wage" and states with equal wage, during the first 3 years.</a:t>
            </a:r>
          </a:p>
          <a:p>
            <a:endParaRPr lang="en-US" sz="900" dirty="0"/>
          </a:p>
          <a:p>
            <a:r>
              <a:rPr lang="en-US" sz="900" b="1" dirty="0"/>
              <a:t>Post: </a:t>
            </a:r>
            <a:r>
              <a:rPr lang="en-US" sz="900" dirty="0"/>
              <a:t>This coefficient represents the average change in the outcome variable across all states in the last 2 years.</a:t>
            </a:r>
          </a:p>
          <a:p>
            <a:endParaRPr lang="en-US" sz="900" dirty="0"/>
          </a:p>
          <a:p>
            <a:r>
              <a:rPr lang="en-US" sz="900" b="1" dirty="0" err="1"/>
              <a:t>Wage_Post</a:t>
            </a:r>
            <a:r>
              <a:rPr lang="en-US" sz="900" b="1" dirty="0"/>
              <a:t>:</a:t>
            </a:r>
            <a:r>
              <a:rPr lang="en-US" sz="900" dirty="0"/>
              <a:t> This interaction term represents the additional effect on the outcome variable for states with minimum wage higher than federal wage.</a:t>
            </a:r>
          </a:p>
        </p:txBody>
      </p:sp>
      <p:sp>
        <p:nvSpPr>
          <p:cNvPr id="3" name="TextBox 2">
            <a:extLst>
              <a:ext uri="{FF2B5EF4-FFF2-40B4-BE49-F238E27FC236}">
                <a16:creationId xmlns:a16="http://schemas.microsoft.com/office/drawing/2014/main" id="{21DF3874-B1E9-EEB1-223F-6D9C8879EF53}"/>
              </a:ext>
            </a:extLst>
          </p:cNvPr>
          <p:cNvSpPr txBox="1"/>
          <p:nvPr/>
        </p:nvSpPr>
        <p:spPr>
          <a:xfrm>
            <a:off x="5605273" y="6379576"/>
            <a:ext cx="685800" cy="369332"/>
          </a:xfrm>
          <a:prstGeom prst="rect">
            <a:avLst/>
          </a:prstGeom>
          <a:noFill/>
        </p:spPr>
        <p:txBody>
          <a:bodyPr wrap="square" rtlCol="0">
            <a:spAutoFit/>
          </a:bodyPr>
          <a:lstStyle/>
          <a:p>
            <a:pPr algn="ctr"/>
            <a:r>
              <a:rPr lang="en-US" dirty="0"/>
              <a:t>21</a:t>
            </a:r>
          </a:p>
        </p:txBody>
      </p:sp>
    </p:spTree>
    <p:extLst>
      <p:ext uri="{BB962C8B-B14F-4D97-AF65-F5344CB8AC3E}">
        <p14:creationId xmlns:p14="http://schemas.microsoft.com/office/powerpoint/2010/main" val="1256513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3D1CD-0A3A-4BA2-5758-AC96203EB016}"/>
              </a:ext>
            </a:extLst>
          </p:cNvPr>
          <p:cNvSpPr>
            <a:spLocks noGrp="1"/>
          </p:cNvSpPr>
          <p:nvPr>
            <p:ph type="title"/>
          </p:nvPr>
        </p:nvSpPr>
        <p:spPr/>
        <p:txBody>
          <a:bodyPr>
            <a:normAutofit fontScale="90000"/>
          </a:bodyPr>
          <a:lstStyle/>
          <a:p>
            <a:r>
              <a:rPr lang="en-US" dirty="0"/>
              <a:t>LSTM model for Socio-economic factors</a:t>
            </a:r>
          </a:p>
        </p:txBody>
      </p:sp>
      <p:pic>
        <p:nvPicPr>
          <p:cNvPr id="12" name="Content Placeholder 11">
            <a:extLst>
              <a:ext uri="{FF2B5EF4-FFF2-40B4-BE49-F238E27FC236}">
                <a16:creationId xmlns:a16="http://schemas.microsoft.com/office/drawing/2014/main" id="{E9D14A98-2C27-D75D-2DBD-3EA6A96E7F15}"/>
              </a:ext>
            </a:extLst>
          </p:cNvPr>
          <p:cNvPicPr>
            <a:picLocks noGrp="1" noChangeAspect="1"/>
          </p:cNvPicPr>
          <p:nvPr>
            <p:ph sz="half" idx="1"/>
          </p:nvPr>
        </p:nvPicPr>
        <p:blipFill>
          <a:blip r:embed="rId2"/>
          <a:stretch>
            <a:fillRect/>
          </a:stretch>
        </p:blipFill>
        <p:spPr>
          <a:xfrm>
            <a:off x="5920099" y="1261872"/>
            <a:ext cx="4229317" cy="2463927"/>
          </a:xfrm>
        </p:spPr>
      </p:pic>
      <p:pic>
        <p:nvPicPr>
          <p:cNvPr id="10" name="Picture 9">
            <a:extLst>
              <a:ext uri="{FF2B5EF4-FFF2-40B4-BE49-F238E27FC236}">
                <a16:creationId xmlns:a16="http://schemas.microsoft.com/office/drawing/2014/main" id="{35E6A084-EB7D-D39D-4FC7-F42612EAB24A}"/>
              </a:ext>
            </a:extLst>
          </p:cNvPr>
          <p:cNvPicPr>
            <a:picLocks noChangeAspect="1"/>
          </p:cNvPicPr>
          <p:nvPr/>
        </p:nvPicPr>
        <p:blipFill>
          <a:blip r:embed="rId3"/>
          <a:stretch>
            <a:fillRect/>
          </a:stretch>
        </p:blipFill>
        <p:spPr>
          <a:xfrm>
            <a:off x="1901471" y="1267672"/>
            <a:ext cx="3848298" cy="5092962"/>
          </a:xfrm>
          <a:prstGeom prst="rect">
            <a:avLst/>
          </a:prstGeom>
        </p:spPr>
      </p:pic>
      <p:pic>
        <p:nvPicPr>
          <p:cNvPr id="14" name="Picture 13">
            <a:extLst>
              <a:ext uri="{FF2B5EF4-FFF2-40B4-BE49-F238E27FC236}">
                <a16:creationId xmlns:a16="http://schemas.microsoft.com/office/drawing/2014/main" id="{9164227A-DB25-73AC-3CA5-5856EF2613D4}"/>
              </a:ext>
            </a:extLst>
          </p:cNvPr>
          <p:cNvPicPr>
            <a:picLocks noChangeAspect="1"/>
          </p:cNvPicPr>
          <p:nvPr/>
        </p:nvPicPr>
        <p:blipFill>
          <a:blip r:embed="rId4"/>
          <a:stretch>
            <a:fillRect/>
          </a:stretch>
        </p:blipFill>
        <p:spPr>
          <a:xfrm>
            <a:off x="5920099" y="3811253"/>
            <a:ext cx="5006298" cy="2549381"/>
          </a:xfrm>
          <a:prstGeom prst="rect">
            <a:avLst/>
          </a:prstGeom>
        </p:spPr>
      </p:pic>
      <p:sp>
        <p:nvSpPr>
          <p:cNvPr id="3" name="TextBox 2">
            <a:extLst>
              <a:ext uri="{FF2B5EF4-FFF2-40B4-BE49-F238E27FC236}">
                <a16:creationId xmlns:a16="http://schemas.microsoft.com/office/drawing/2014/main" id="{3ED9AE35-80A2-BC0F-98B2-2AD047871919}"/>
              </a:ext>
            </a:extLst>
          </p:cNvPr>
          <p:cNvSpPr txBox="1"/>
          <p:nvPr/>
        </p:nvSpPr>
        <p:spPr>
          <a:xfrm>
            <a:off x="5605273" y="6379576"/>
            <a:ext cx="685800" cy="369332"/>
          </a:xfrm>
          <a:prstGeom prst="rect">
            <a:avLst/>
          </a:prstGeom>
          <a:noFill/>
        </p:spPr>
        <p:txBody>
          <a:bodyPr wrap="square" rtlCol="0">
            <a:spAutoFit/>
          </a:bodyPr>
          <a:lstStyle/>
          <a:p>
            <a:pPr algn="ctr"/>
            <a:r>
              <a:rPr lang="en-US" dirty="0"/>
              <a:t>22</a:t>
            </a:r>
          </a:p>
        </p:txBody>
      </p:sp>
    </p:spTree>
    <p:extLst>
      <p:ext uri="{BB962C8B-B14F-4D97-AF65-F5344CB8AC3E}">
        <p14:creationId xmlns:p14="http://schemas.microsoft.com/office/powerpoint/2010/main" val="1198999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61BC-6843-85BF-58AC-11DB6AF0BF3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6AA26246-BE39-19B2-E9FD-68E4F131626F}"/>
              </a:ext>
            </a:extLst>
          </p:cNvPr>
          <p:cNvSpPr>
            <a:spLocks noGrp="1"/>
          </p:cNvSpPr>
          <p:nvPr>
            <p:ph idx="1"/>
          </p:nvPr>
        </p:nvSpPr>
        <p:spPr>
          <a:xfrm>
            <a:off x="274320" y="1377373"/>
            <a:ext cx="11079480" cy="4919662"/>
          </a:xfrm>
        </p:spPr>
        <p:txBody>
          <a:bodyPr>
            <a:normAutofit fontScale="55000" lnSpcReduction="20000"/>
          </a:bodyPr>
          <a:lstStyle/>
          <a:p>
            <a:r>
              <a:rPr lang="en-US" dirty="0">
                <a:hlinkClick r:id="rId2"/>
              </a:rPr>
              <a:t>https://www.macrotrends.net/global-metrics/states/utah/population</a:t>
            </a:r>
            <a:endParaRPr lang="en-US" dirty="0"/>
          </a:p>
          <a:p>
            <a:r>
              <a:rPr lang="en-US" dirty="0">
                <a:hlinkClick r:id="rId3"/>
              </a:rPr>
              <a:t>https://www.alz.org/alzheimers-dementia/facts-figures</a:t>
            </a:r>
            <a:endParaRPr lang="en-US" dirty="0"/>
          </a:p>
          <a:p>
            <a:r>
              <a:rPr lang="en-US" dirty="0">
                <a:hlinkClick r:id="rId4"/>
              </a:rPr>
              <a:t>https://healthy.arkansas.gov/wp-content/uploads/lead_2015_closed.pdf#:~:text=2015%20Alzheimer</a:t>
            </a:r>
            <a:endParaRPr lang="en-US" dirty="0"/>
          </a:p>
          <a:p>
            <a:r>
              <a:rPr lang="en-US" dirty="0">
                <a:hlinkClick r:id="rId5"/>
              </a:rPr>
              <a:t>https://health.alaska.gov/dph/VitalStats/Documents/PDFs/2006/2006_Death_web.pdf</a:t>
            </a:r>
            <a:endParaRPr lang="en-US" dirty="0"/>
          </a:p>
          <a:p>
            <a:r>
              <a:rPr lang="en-US" dirty="0">
                <a:hlinkClick r:id="rId6"/>
              </a:rPr>
              <a:t>https://www.cdph.ca.gov/Programs/CHSI/CDPH%20Document%20Library/Alzheimer%20DDTS%20Document%20Final.pdf</a:t>
            </a:r>
            <a:endParaRPr lang="en-US" dirty="0"/>
          </a:p>
          <a:p>
            <a:r>
              <a:rPr lang="en-US" dirty="0">
                <a:hlinkClick r:id="rId7"/>
              </a:rPr>
              <a:t>https://www.cdph.ca.gov/Programs/CCDPHP/DCDIC/CDCB/Pages/AlzheimersDataStatisticsReports.aspx</a:t>
            </a:r>
            <a:endParaRPr lang="en-US" dirty="0"/>
          </a:p>
          <a:p>
            <a:r>
              <a:rPr lang="en-US" dirty="0">
                <a:hlinkClick r:id="rId8"/>
              </a:rPr>
              <a:t>https://www.cohealthdata.dphe.state.co.us/chd/Resources/vs/2009/Colorado.pdf</a:t>
            </a:r>
            <a:endParaRPr lang="en-US" dirty="0"/>
          </a:p>
          <a:p>
            <a:r>
              <a:rPr lang="en-US" dirty="0">
                <a:hlinkClick r:id="rId9"/>
              </a:rPr>
              <a:t>https://dhss.delaware.gov/dph/hp/files/ar2009.pdf</a:t>
            </a:r>
            <a:endParaRPr lang="en-US" dirty="0"/>
          </a:p>
          <a:p>
            <a:r>
              <a:rPr lang="en-US" dirty="0">
                <a:hlinkClick r:id="rId10"/>
              </a:rPr>
              <a:t>https://oasis.state.ga.us/oasis/webquery/qryADRDMortality.aspx</a:t>
            </a:r>
            <a:endParaRPr lang="en-US" dirty="0"/>
          </a:p>
          <a:p>
            <a:r>
              <a:rPr lang="en-US" dirty="0">
                <a:hlinkClick r:id="rId11"/>
              </a:rPr>
              <a:t>https://health.hawaii.gov/vitalstatistics/</a:t>
            </a:r>
            <a:endParaRPr lang="en-US" dirty="0"/>
          </a:p>
          <a:p>
            <a:r>
              <a:rPr lang="en-US" dirty="0">
                <a:hlinkClick r:id="rId12"/>
              </a:rPr>
              <a:t>https://publicdocuments.dhw.idaho.gov/WebLink/Browse.aspx?id=11605&amp;dbid=0&amp;repo=PUBLIC-DOCUMENTS</a:t>
            </a:r>
            <a:endParaRPr lang="en-US" dirty="0"/>
          </a:p>
          <a:p>
            <a:r>
              <a:rPr lang="en-US" dirty="0">
                <a:hlinkClick r:id="rId13"/>
              </a:rPr>
              <a:t>https://dph.illinois.gov/data-statistics/vital-statistics/death-statistics.html</a:t>
            </a:r>
            <a:endParaRPr lang="en-US" dirty="0"/>
          </a:p>
          <a:p>
            <a:r>
              <a:rPr lang="en-US" dirty="0">
                <a:hlinkClick r:id="rId14"/>
              </a:rPr>
              <a:t>https://www.in.gov/health/reports/mortality/2009/highlights.htm</a:t>
            </a:r>
            <a:endParaRPr lang="en-US" dirty="0"/>
          </a:p>
          <a:p>
            <a:r>
              <a:rPr lang="en-US" dirty="0">
                <a:hlinkClick r:id="rId15"/>
              </a:rPr>
              <a:t>https://www.kdhe.ks.gov/1820/Kansas-Vital-Statistics-at-a-Glance</a:t>
            </a:r>
            <a:endParaRPr lang="en-US" dirty="0"/>
          </a:p>
          <a:p>
            <a:r>
              <a:rPr lang="en-US" dirty="0">
                <a:hlinkClick r:id="rId16"/>
              </a:rPr>
              <a:t>https://publications.iowa.gov/39296/1/vital_stats_2019_brief-20200409.pdf</a:t>
            </a:r>
            <a:endParaRPr lang="en-US" dirty="0"/>
          </a:p>
          <a:p>
            <a:r>
              <a:rPr lang="en-US" dirty="0">
                <a:hlinkClick r:id="rId17"/>
              </a:rPr>
              <a:t>https://www.courier-journal.com/story/health-bytes/2015/03/27/2015-alzheimers-report-shows-deaths-on-the-rise-and-disclosure-rate-low/70533064/</a:t>
            </a:r>
            <a:endParaRPr lang="en-US" dirty="0"/>
          </a:p>
        </p:txBody>
      </p:sp>
      <p:sp>
        <p:nvSpPr>
          <p:cNvPr id="4" name="TextBox 3">
            <a:extLst>
              <a:ext uri="{FF2B5EF4-FFF2-40B4-BE49-F238E27FC236}">
                <a16:creationId xmlns:a16="http://schemas.microsoft.com/office/drawing/2014/main" id="{6E7A91DC-239F-EAA8-ADD5-7D0F8F86F726}"/>
              </a:ext>
            </a:extLst>
          </p:cNvPr>
          <p:cNvSpPr txBox="1"/>
          <p:nvPr/>
        </p:nvSpPr>
        <p:spPr>
          <a:xfrm>
            <a:off x="5605273" y="6379576"/>
            <a:ext cx="685800" cy="369332"/>
          </a:xfrm>
          <a:prstGeom prst="rect">
            <a:avLst/>
          </a:prstGeom>
          <a:noFill/>
        </p:spPr>
        <p:txBody>
          <a:bodyPr wrap="square" rtlCol="0">
            <a:spAutoFit/>
          </a:bodyPr>
          <a:lstStyle/>
          <a:p>
            <a:pPr algn="ctr"/>
            <a:r>
              <a:rPr lang="en-US" dirty="0"/>
              <a:t>23</a:t>
            </a:r>
          </a:p>
        </p:txBody>
      </p:sp>
    </p:spTree>
    <p:extLst>
      <p:ext uri="{BB962C8B-B14F-4D97-AF65-F5344CB8AC3E}">
        <p14:creationId xmlns:p14="http://schemas.microsoft.com/office/powerpoint/2010/main" val="2515491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506BC-3C8C-62CA-77A0-7F90C5A2CC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E8C8D-0B5D-B10C-A53F-0E6EC6DCAAA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DDD6E33-2AC7-758E-1B87-6BAF2BD7508D}"/>
              </a:ext>
            </a:extLst>
          </p:cNvPr>
          <p:cNvSpPr>
            <a:spLocks noGrp="1"/>
          </p:cNvSpPr>
          <p:nvPr>
            <p:ph idx="1"/>
          </p:nvPr>
        </p:nvSpPr>
        <p:spPr>
          <a:xfrm>
            <a:off x="274320" y="1377373"/>
            <a:ext cx="11079480" cy="4919662"/>
          </a:xfrm>
        </p:spPr>
        <p:txBody>
          <a:bodyPr>
            <a:normAutofit fontScale="55000" lnSpcReduction="20000"/>
          </a:bodyPr>
          <a:lstStyle/>
          <a:p>
            <a:r>
              <a:rPr lang="en-US" dirty="0">
                <a:hlinkClick r:id="rId2"/>
              </a:rPr>
              <a:t>https://www.maine.gov/dhhs/mecdc/public-health-systems/data-research/data/documents/2020%20Mortality%20Report%20Final%20071722.pdf</a:t>
            </a:r>
            <a:endParaRPr lang="en-US" dirty="0"/>
          </a:p>
          <a:p>
            <a:r>
              <a:rPr lang="en-US" dirty="0">
                <a:hlinkClick r:id="rId3"/>
              </a:rPr>
              <a:t>https://www.mdch.state.mi.us/osr/CRI/Alzheimers.asp</a:t>
            </a:r>
            <a:endParaRPr lang="en-US" dirty="0"/>
          </a:p>
          <a:p>
            <a:r>
              <a:rPr lang="en-US" dirty="0">
                <a:hlinkClick r:id="rId4"/>
              </a:rPr>
              <a:t>https://minnesotareformer.com/2023/10/10/the-pandemic-changed-how-minnesotans-die/</a:t>
            </a:r>
            <a:endParaRPr lang="en-US" dirty="0"/>
          </a:p>
          <a:p>
            <a:r>
              <a:rPr lang="en-US" dirty="0">
                <a:hlinkClick r:id="rId5"/>
              </a:rPr>
              <a:t>https://msdh.ms.gov/phs/2007/Summary/dthst07.pdf</a:t>
            </a:r>
            <a:endParaRPr lang="en-US" dirty="0"/>
          </a:p>
          <a:p>
            <a:r>
              <a:rPr lang="en-US" dirty="0">
                <a:hlinkClick r:id="rId6"/>
              </a:rPr>
              <a:t>https://dhhs.ne.gov/Reports/Vital%20Statistics%20Report%202010.pdf</a:t>
            </a:r>
            <a:endParaRPr lang="en-US" dirty="0"/>
          </a:p>
          <a:p>
            <a:r>
              <a:rPr lang="en-US" dirty="0">
                <a:hlinkClick r:id="rId7"/>
              </a:rPr>
              <a:t>https://www-doh.nj.gov/doh-shad/indicator/view/AlzDeath.Trend.html?PrinterFriendly=x</a:t>
            </a:r>
            <a:endParaRPr lang="en-US" dirty="0"/>
          </a:p>
          <a:p>
            <a:r>
              <a:rPr lang="en-US" dirty="0">
                <a:hlinkClick r:id="rId8"/>
              </a:rPr>
              <a:t>https://www.nyc.gov/assets/doh/downloads/pdf/vs/2007sum.pdf</a:t>
            </a:r>
            <a:endParaRPr lang="en-US" dirty="0"/>
          </a:p>
          <a:p>
            <a:r>
              <a:rPr lang="en-US" dirty="0">
                <a:hlinkClick r:id="rId9"/>
              </a:rPr>
              <a:t>https://ibis.doh.nm.gov/query/result/mort/MortCnty/Count.html</a:t>
            </a:r>
            <a:endParaRPr lang="en-US" dirty="0"/>
          </a:p>
          <a:p>
            <a:r>
              <a:rPr lang="en-US" dirty="0">
                <a:hlinkClick r:id="rId10"/>
              </a:rPr>
              <a:t>https://app.powerbigov.us/view?r=eyJrIjoiZjI3N2ZhOGItNWFmYS00NzE0LWFlZGMtN2ZhZDIxNTFhNzlmIiwidCI6IjJkZWEwNDY0LWRhNTEtNGE4OC1iYWUyLWIzZGI5NGJjMGM1NCJ9&amp;pageName=ReportSectiona726e088257f0d4315b8</a:t>
            </a:r>
            <a:endParaRPr lang="en-US" dirty="0"/>
          </a:p>
          <a:p>
            <a:r>
              <a:rPr lang="en-US" dirty="0">
                <a:hlinkClick r:id="rId11"/>
              </a:rPr>
              <a:t>https://odh.ohio.gov/wps/wcm/connect/gov/0ee853f1-e546-4fdd-9422-3c0b055984e1/Cognitive+Decline+and++Dementia+in+Ohio_Final.pdf?MOD=AJPERES</a:t>
            </a:r>
            <a:endParaRPr lang="en-US" dirty="0"/>
          </a:p>
          <a:p>
            <a:r>
              <a:rPr lang="en-US" dirty="0">
                <a:hlinkClick r:id="rId12"/>
              </a:rPr>
              <a:t>https://www.health.state.ok.us/stats/Vital_Statistics/Death/Final/Tables.shtml</a:t>
            </a:r>
            <a:endParaRPr lang="en-US" dirty="0"/>
          </a:p>
          <a:p>
            <a:r>
              <a:rPr lang="en-US" dirty="0">
                <a:hlinkClick r:id="rId13"/>
              </a:rPr>
              <a:t>https://www.pa.gov/content/dam/copapwp-pagov/en/health/documents/topics/healthstatistics/vitalstatistics/countyhealthprofiles/documents/County_Health_Profiles_2008.pdf</a:t>
            </a:r>
            <a:endParaRPr lang="en-US" dirty="0"/>
          </a:p>
          <a:p>
            <a:r>
              <a:rPr lang="en-US" dirty="0">
                <a:hlinkClick r:id="rId14"/>
              </a:rPr>
              <a:t>https://sc.edu/study/colleges_schools/public_health/documents/alzheimers_registry_report.pdf</a:t>
            </a:r>
            <a:endParaRPr lang="en-US" dirty="0"/>
          </a:p>
          <a:p>
            <a:r>
              <a:rPr lang="en-US" dirty="0">
                <a:hlinkClick r:id="rId15"/>
              </a:rPr>
              <a:t>https://doh.sd.gov/media/ngfhbvum/sd_mortality_2004-2020.pdf</a:t>
            </a:r>
            <a:endParaRPr lang="en-US" dirty="0"/>
          </a:p>
          <a:p>
            <a:pPr marL="0" indent="0">
              <a:buNone/>
            </a:pPr>
            <a:endParaRPr lang="en-US" dirty="0"/>
          </a:p>
        </p:txBody>
      </p:sp>
      <p:sp>
        <p:nvSpPr>
          <p:cNvPr id="5" name="TextBox 4">
            <a:extLst>
              <a:ext uri="{FF2B5EF4-FFF2-40B4-BE49-F238E27FC236}">
                <a16:creationId xmlns:a16="http://schemas.microsoft.com/office/drawing/2014/main" id="{0D1E3892-B64E-8D5B-A214-C289BF0014F8}"/>
              </a:ext>
            </a:extLst>
          </p:cNvPr>
          <p:cNvSpPr txBox="1"/>
          <p:nvPr/>
        </p:nvSpPr>
        <p:spPr>
          <a:xfrm>
            <a:off x="5605273" y="6379576"/>
            <a:ext cx="685800" cy="369332"/>
          </a:xfrm>
          <a:prstGeom prst="rect">
            <a:avLst/>
          </a:prstGeom>
          <a:noFill/>
        </p:spPr>
        <p:txBody>
          <a:bodyPr wrap="square" rtlCol="0">
            <a:spAutoFit/>
          </a:bodyPr>
          <a:lstStyle/>
          <a:p>
            <a:pPr algn="ctr"/>
            <a:r>
              <a:rPr lang="en-US" dirty="0"/>
              <a:t>24</a:t>
            </a:r>
          </a:p>
        </p:txBody>
      </p:sp>
    </p:spTree>
    <p:extLst>
      <p:ext uri="{BB962C8B-B14F-4D97-AF65-F5344CB8AC3E}">
        <p14:creationId xmlns:p14="http://schemas.microsoft.com/office/powerpoint/2010/main" val="795522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206F-1F73-4301-7768-10D832CA3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0AD13-3D03-106B-0626-D0265E809F7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D1B8E51-AA7D-AA57-8150-273114476C87}"/>
              </a:ext>
            </a:extLst>
          </p:cNvPr>
          <p:cNvSpPr>
            <a:spLocks noGrp="1"/>
          </p:cNvSpPr>
          <p:nvPr>
            <p:ph idx="1"/>
          </p:nvPr>
        </p:nvSpPr>
        <p:spPr>
          <a:xfrm>
            <a:off x="274320" y="1377373"/>
            <a:ext cx="11079480" cy="4919662"/>
          </a:xfrm>
        </p:spPr>
        <p:txBody>
          <a:bodyPr>
            <a:normAutofit fontScale="47500" lnSpcReduction="20000"/>
          </a:bodyPr>
          <a:lstStyle/>
          <a:p>
            <a:r>
              <a:rPr lang="en-US" dirty="0">
                <a:hlinkClick r:id="rId2"/>
              </a:rPr>
              <a:t>https://www.tn.gov/health/health-program-areas/statistics/health-data/death-statistics.html</a:t>
            </a:r>
            <a:endParaRPr lang="en-US" dirty="0"/>
          </a:p>
          <a:p>
            <a:r>
              <a:rPr lang="en-US" dirty="0">
                <a:hlinkClick r:id="rId3"/>
              </a:rPr>
              <a:t>https://www.dshs.texas.gov/alzheimers-disease/alzheimers-disease-statistics</a:t>
            </a:r>
            <a:endParaRPr lang="en-US" dirty="0"/>
          </a:p>
          <a:p>
            <a:r>
              <a:rPr lang="en-US" dirty="0">
                <a:hlinkClick r:id="rId4"/>
              </a:rPr>
              <a:t>https://ibis.utah.gov/ibisph-view/indicator/complete_profile/AlzDea.html</a:t>
            </a:r>
            <a:endParaRPr lang="en-US" dirty="0"/>
          </a:p>
          <a:p>
            <a:r>
              <a:rPr lang="en-US" dirty="0">
                <a:hlinkClick r:id="rId5"/>
              </a:rPr>
              <a:t>https://www.cdc.gov/nchs/data/databriefs/db116.pdf</a:t>
            </a:r>
            <a:endParaRPr lang="en-US" dirty="0"/>
          </a:p>
          <a:p>
            <a:r>
              <a:rPr lang="en-US" dirty="0">
                <a:hlinkClick r:id="rId6"/>
              </a:rPr>
              <a:t>https://apps.vdh.virginia.gov/HealthStats/stats.htm</a:t>
            </a:r>
            <a:endParaRPr lang="en-US" dirty="0"/>
          </a:p>
          <a:p>
            <a:r>
              <a:rPr lang="en-US" dirty="0"/>
              <a:t>https://www.bing.com/ck/a?!&amp;&amp;p=1dd674930cd96d6aJmltdHM9MTcyNjUzMTIwMCZpZ3VpZD0xOGUxN2ZiMy1iODQ2LTY0N2YtMzhmMy02YjEyYjkzMzY1MTUmaW5zaWQ9NTIwMA&amp;ptn=3&amp;ver=2&amp;hsh=3&amp;fclid=18e17fb3-b846-647f-38f3-6b12b9336515&amp;psq=west+virginia+vital+statistics+2007+wvdhhr&amp;u=a1aHR0cHM6Ly93d3cud3ZkaGhyLm9yZy9icGgvaHNjL3B1YnMvdml0YWwvMjAwNy8yMDA3Vml0YWwucGRm&amp;ntb=1</a:t>
            </a:r>
          </a:p>
          <a:p>
            <a:r>
              <a:rPr lang="en-US" dirty="0">
                <a:hlinkClick r:id="rId7"/>
              </a:rPr>
              <a:t>https://deadorkicking.com/death-statistics/us/</a:t>
            </a:r>
            <a:endParaRPr lang="en-US" dirty="0"/>
          </a:p>
          <a:p>
            <a:r>
              <a:rPr lang="en-US" dirty="0">
                <a:hlinkClick r:id="rId8"/>
              </a:rPr>
              <a:t>https://www.americashealthrankings.org/explore/measures/costburden_women/MD</a:t>
            </a:r>
            <a:endParaRPr lang="en-US" dirty="0"/>
          </a:p>
          <a:p>
            <a:r>
              <a:rPr lang="en-US" dirty="0">
                <a:hlinkClick r:id="rId9"/>
              </a:rPr>
              <a:t>https://www.census.gov/library/stories/2021/08/improved-race-ethnicity-measures-reveal-united-states-population-much-more-multiracial.html</a:t>
            </a:r>
            <a:endParaRPr lang="en-US" dirty="0"/>
          </a:p>
          <a:p>
            <a:r>
              <a:rPr lang="en-US" dirty="0">
                <a:hlinkClick r:id="rId10"/>
              </a:rPr>
              <a:t>https://en.wikipedia.org/wiki/Demographics_of_the_United_States</a:t>
            </a:r>
            <a:endParaRPr lang="en-US" dirty="0"/>
          </a:p>
          <a:p>
            <a:r>
              <a:rPr lang="en-US" dirty="0">
                <a:hlinkClick r:id="rId11"/>
              </a:rPr>
              <a:t>https://usafacts.org/data/topics/people-society/population-and-demographics/our-changing-population/</a:t>
            </a:r>
            <a:endParaRPr lang="en-US" dirty="0"/>
          </a:p>
          <a:p>
            <a:r>
              <a:rPr lang="en-US" dirty="0">
                <a:hlinkClick r:id="rId12"/>
              </a:rPr>
              <a:t>https://en.wikipedia.org/wiki/White_Americans</a:t>
            </a:r>
            <a:endParaRPr lang="en-US" dirty="0"/>
          </a:p>
          <a:p>
            <a:r>
              <a:rPr lang="en-US" dirty="0">
                <a:hlinkClick r:id="rId13"/>
              </a:rPr>
              <a:t>https://www.pewresearch.org/social-trends/fact-sheet/facts-about-the-us-black-population/</a:t>
            </a:r>
            <a:endParaRPr lang="en-US" dirty="0"/>
          </a:p>
          <a:p>
            <a:r>
              <a:rPr lang="en-US" dirty="0">
                <a:hlinkClick r:id="rId14"/>
              </a:rPr>
              <a:t>https://blackdemographics.com/population/black-state-population/</a:t>
            </a:r>
            <a:endParaRPr lang="en-US" dirty="0"/>
          </a:p>
          <a:p>
            <a:r>
              <a:rPr lang="en-US" dirty="0"/>
              <a:t>Surveillance - United States Diabetes Surveillance System (cdc.gov)</a:t>
            </a:r>
          </a:p>
          <a:p>
            <a:r>
              <a:rPr lang="en-US" dirty="0">
                <a:hlinkClick r:id="rId15"/>
              </a:rPr>
              <a:t>https://wid.world/data/</a:t>
            </a:r>
            <a:endParaRPr lang="en-US" dirty="0"/>
          </a:p>
          <a:p>
            <a:r>
              <a:rPr lang="en-US" dirty="0">
                <a:hlinkClick r:id="rId16"/>
              </a:rPr>
              <a:t>https://evictionlab.org/map/?m=modeled&amp;c=p&amp;b=efr&amp;s=all&amp;r=states&amp;y=2015&amp;z=2.76&amp;lat=41.32&amp;lon=-106.33&amp;lang=en</a:t>
            </a:r>
            <a:endParaRPr lang="en-US" dirty="0"/>
          </a:p>
        </p:txBody>
      </p:sp>
      <p:sp>
        <p:nvSpPr>
          <p:cNvPr id="5" name="TextBox 4">
            <a:extLst>
              <a:ext uri="{FF2B5EF4-FFF2-40B4-BE49-F238E27FC236}">
                <a16:creationId xmlns:a16="http://schemas.microsoft.com/office/drawing/2014/main" id="{E76B11FE-205F-05E4-66C1-A426CA484BF6}"/>
              </a:ext>
            </a:extLst>
          </p:cNvPr>
          <p:cNvSpPr txBox="1"/>
          <p:nvPr/>
        </p:nvSpPr>
        <p:spPr>
          <a:xfrm>
            <a:off x="5605273" y="6379576"/>
            <a:ext cx="685800" cy="369332"/>
          </a:xfrm>
          <a:prstGeom prst="rect">
            <a:avLst/>
          </a:prstGeom>
          <a:noFill/>
        </p:spPr>
        <p:txBody>
          <a:bodyPr wrap="square" rtlCol="0">
            <a:spAutoFit/>
          </a:bodyPr>
          <a:lstStyle/>
          <a:p>
            <a:pPr algn="ctr"/>
            <a:r>
              <a:rPr lang="en-US" dirty="0"/>
              <a:t>25</a:t>
            </a:r>
          </a:p>
        </p:txBody>
      </p:sp>
    </p:spTree>
    <p:extLst>
      <p:ext uri="{BB962C8B-B14F-4D97-AF65-F5344CB8AC3E}">
        <p14:creationId xmlns:p14="http://schemas.microsoft.com/office/powerpoint/2010/main" val="3431728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00627-D828-B8CD-03B7-91CBC4F17F13}"/>
              </a:ext>
            </a:extLst>
          </p:cNvPr>
          <p:cNvSpPr>
            <a:spLocks noGrp="1"/>
          </p:cNvSpPr>
          <p:nvPr>
            <p:ph type="title"/>
          </p:nvPr>
        </p:nvSpPr>
        <p:spPr/>
        <p:txBody>
          <a:bodyPr/>
          <a:lstStyle/>
          <a:p>
            <a:r>
              <a:rPr lang="en-US" b="1" dirty="0"/>
              <a:t>Questions?</a:t>
            </a:r>
          </a:p>
        </p:txBody>
      </p:sp>
      <p:pic>
        <p:nvPicPr>
          <p:cNvPr id="5" name="Content Placeholder 4" descr="A yellow and blue question mark&#10;&#10;Description automatically generated">
            <a:extLst>
              <a:ext uri="{FF2B5EF4-FFF2-40B4-BE49-F238E27FC236}">
                <a16:creationId xmlns:a16="http://schemas.microsoft.com/office/drawing/2014/main" id="{98B955BD-3E72-49E9-1D37-CCCA2658D36C}"/>
              </a:ext>
            </a:extLst>
          </p:cNvPr>
          <p:cNvPicPr>
            <a:picLocks noGrp="1" noChangeAspect="1"/>
          </p:cNvPicPr>
          <p:nvPr>
            <p:ph idx="1"/>
          </p:nvPr>
        </p:nvPicPr>
        <p:blipFill>
          <a:blip r:embed="rId2"/>
          <a:stretch>
            <a:fillRect/>
          </a:stretch>
        </p:blipFill>
        <p:spPr>
          <a:xfrm>
            <a:off x="3952966" y="1825625"/>
            <a:ext cx="4286067" cy="4351338"/>
          </a:xfrm>
        </p:spPr>
      </p:pic>
      <p:sp>
        <p:nvSpPr>
          <p:cNvPr id="3" name="TextBox 2">
            <a:extLst>
              <a:ext uri="{FF2B5EF4-FFF2-40B4-BE49-F238E27FC236}">
                <a16:creationId xmlns:a16="http://schemas.microsoft.com/office/drawing/2014/main" id="{D8E90503-633D-9025-3B83-F79A1259EB5A}"/>
              </a:ext>
            </a:extLst>
          </p:cNvPr>
          <p:cNvSpPr txBox="1"/>
          <p:nvPr/>
        </p:nvSpPr>
        <p:spPr>
          <a:xfrm>
            <a:off x="5605273" y="6379576"/>
            <a:ext cx="685800" cy="369332"/>
          </a:xfrm>
          <a:prstGeom prst="rect">
            <a:avLst/>
          </a:prstGeom>
          <a:noFill/>
        </p:spPr>
        <p:txBody>
          <a:bodyPr wrap="square" rtlCol="0">
            <a:spAutoFit/>
          </a:bodyPr>
          <a:lstStyle/>
          <a:p>
            <a:pPr algn="ctr"/>
            <a:r>
              <a:rPr lang="en-US" dirty="0"/>
              <a:t>26</a:t>
            </a:r>
          </a:p>
        </p:txBody>
      </p:sp>
    </p:spTree>
    <p:extLst>
      <p:ext uri="{BB962C8B-B14F-4D97-AF65-F5344CB8AC3E}">
        <p14:creationId xmlns:p14="http://schemas.microsoft.com/office/powerpoint/2010/main" val="12699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SU Template - Accessible" id="{C9EEBB27-A160-0549-93BB-57AA507F1703}" vid="{32148866-FC3F-5F4F-BF9C-13255541B6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20913</TotalTime>
  <Words>4135</Words>
  <Application>Microsoft Office PowerPoint</Application>
  <PresentationFormat>Widescreen</PresentationFormat>
  <Paragraphs>424</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Arial Unicode MS</vt:lpstr>
      <vt:lpstr>Calibri</vt:lpstr>
      <vt:lpstr>Calibri Light</vt:lpstr>
      <vt:lpstr>Office Theme</vt:lpstr>
      <vt:lpstr>Capstone Project – Wyandotte County Data</vt:lpstr>
      <vt:lpstr>Project Objective and Initial Project Synopsis</vt:lpstr>
      <vt:lpstr>Data Set</vt:lpstr>
      <vt:lpstr>Data Set</vt:lpstr>
      <vt:lpstr>Data Set</vt:lpstr>
      <vt:lpstr>Data scraping (Automation)</vt:lpstr>
      <vt:lpstr>Standardizing  and Transforming             the Data Set</vt:lpstr>
      <vt:lpstr>Standardized Data Set…</vt:lpstr>
      <vt:lpstr>Project Approach…</vt:lpstr>
      <vt:lpstr>Analytics Models</vt:lpstr>
      <vt:lpstr>Correlation matrix</vt:lpstr>
      <vt:lpstr>Significance Matrix</vt:lpstr>
      <vt:lpstr>Health and Socio-economic Factors</vt:lpstr>
      <vt:lpstr>Significance Matrix (Health vs Socio-economic outcomes)</vt:lpstr>
      <vt:lpstr>Hypothesis Testing </vt:lpstr>
      <vt:lpstr>Health Outcomes in Preempted/Non-preempted States</vt:lpstr>
      <vt:lpstr>Health Outcomes in Preempted/Non-preempted States</vt:lpstr>
      <vt:lpstr>Socio-economic Outcomes in Preempted/Non-preempted States</vt:lpstr>
      <vt:lpstr>Socio-economic Outcomes in Preempted/Non-preempted States</vt:lpstr>
      <vt:lpstr>Socio-economic Outcomes in States with higher/equal minimum wage than Federal</vt:lpstr>
      <vt:lpstr>Socio-economic Outcomes in States with higher/equal minimum wage than Federal</vt:lpstr>
      <vt:lpstr>LSTM model for Socio-economic factors</vt:lpstr>
      <vt:lpstr>References</vt:lpstr>
      <vt:lpstr>References</vt:lpstr>
      <vt:lpstr>References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Hamza Khader</cp:lastModifiedBy>
  <cp:revision>17</cp:revision>
  <dcterms:created xsi:type="dcterms:W3CDTF">2019-10-07T21:46:27Z</dcterms:created>
  <dcterms:modified xsi:type="dcterms:W3CDTF">2024-12-03T20:01:25Z</dcterms:modified>
</cp:coreProperties>
</file>